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719" r:id="rId3"/>
    <p:sldId id="292" r:id="rId4"/>
    <p:sldId id="720" r:id="rId5"/>
    <p:sldId id="306" r:id="rId6"/>
    <p:sldId id="307" r:id="rId7"/>
    <p:sldId id="305" r:id="rId8"/>
    <p:sldId id="708" r:id="rId9"/>
    <p:sldId id="726" r:id="rId10"/>
    <p:sldId id="727" r:id="rId11"/>
    <p:sldId id="724" r:id="rId12"/>
    <p:sldId id="718" r:id="rId13"/>
    <p:sldId id="282" r:id="rId14"/>
    <p:sldId id="295" r:id="rId15"/>
    <p:sldId id="729" r:id="rId16"/>
    <p:sldId id="722" r:id="rId17"/>
    <p:sldId id="296" r:id="rId18"/>
    <p:sldId id="731" r:id="rId19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0" d="100"/>
          <a:sy n="70" d="100"/>
        </p:scale>
        <p:origin x="536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EE7F752-269E-4B5C-B495-4B33B4800A06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2026-05-21 Thursday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E861E8E-D392-497B-BB21-122DD7C27CF3}" type="slidenum"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3678BA1-10EF-4007-B03F-607453227871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555D449-B875-4B8D-8E66-224D27E54C9A}" type="slidenum">
              <a:rPr lang="en-US" altLang="zh-CN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07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609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AEA4EA-F1B9-F99D-8ECD-33330807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697918C6-A7E9-49A4-515E-DDA994B45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81271689-FC1D-5373-60FD-461F4358A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xmlns="" id="{D31C2678-B156-0C1D-533E-923D53D98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9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055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145482-6FF7-E8E7-2748-48D438B4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0CE46E95-106B-B185-D7A8-23C2C6DE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ABCDF09F-DE86-A4F3-31CB-236AFA3EE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xmlns="" id="{9D915A1C-1949-CE47-E3F2-E152F19E1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10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972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C34CAC-93B5-E675-D2DF-C48D5C55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2DBA8E70-8F24-E13F-022E-A1E5940C9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A7E0CD22-E4FF-45C8-FB39-ED9C52A70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xmlns="" id="{5BB07062-55F8-F136-D06B-4E3BBCF36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11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247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13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9955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14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030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CACA4F-E0C2-3C6A-B8DE-AB3A361C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CD5F2B42-19BC-70E1-47BE-127B48CDC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048042DB-30A1-9238-3738-5279CB872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xmlns="" id="{FE888FD0-DB36-8B22-AEAC-228671D0D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15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4775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pPr/>
              <a:t>16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618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5D449-B875-4B8D-8E66-224D27E54C9A}" type="slidenum">
              <a:rPr lang="en-US" altLang="zh-CN" smtClean="0">
                <a:ea typeface="Microsoft YaHei UI" panose="020B0503020204020204" pitchFamily="34" charset="-122"/>
              </a:rPr>
              <a:t>18</a:t>
            </a:fld>
            <a:endParaRPr lang="zh-CN" altLang="en-US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89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26225" y="5181600"/>
            <a:ext cx="4098175" cy="685800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pic>
        <p:nvPicPr>
          <p:cNvPr id="7" name="图 6" descr="EKG 线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A084B68-E584-4111-A4EA-E8DF13DE8C81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矩形​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6800" y="1828800"/>
            <a:ext cx="7772400" cy="3177380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pPr rtl="0"/>
            <a:r>
              <a:rPr lang="zh-CN" altLang="en-US" noProof="0" dirty="0"/>
              <a:t>单击此处编辑母版标题</a:t>
            </a:r>
            <a:r>
              <a:rPr lang="en-US" altLang="zh-CN" noProof="0" dirty="0"/>
              <a:t/>
            </a:r>
            <a:br>
              <a:rPr lang="en-US" altLang="zh-CN" noProof="0" dirty="0"/>
            </a:br>
            <a:r>
              <a:rPr lang="zh-CN" altLang="en-US" noProof="0" dirty="0"/>
              <a:t>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066800" y="5181600"/>
            <a:ext cx="7772400" cy="685800"/>
          </a:xfrm>
        </p:spPr>
        <p:txBody>
          <a:bodyPr rtlCol="0"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825624"/>
            <a:ext cx="4800600" cy="457517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24600" y="1825624"/>
            <a:ext cx="4800600" cy="457517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663AC63-9D45-49FB-96B0-3C4730217ECF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066800" y="1828799"/>
            <a:ext cx="4800600" cy="762000"/>
          </a:xfrm>
        </p:spPr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066800" y="2590799"/>
            <a:ext cx="4800600" cy="381003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24600" y="1828799"/>
            <a:ext cx="4800600" cy="762000"/>
          </a:xfrm>
        </p:spPr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324600" y="2590799"/>
            <a:ext cx="4800600" cy="381003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8527778-70E7-4C3D-8790-78F05C96682F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3139538-CE7F-4419-9017-A5200A1E87A3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289E53A-D35D-44EA-82BF-E870E849A35B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 descr="矩形​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</a:endParaRPr>
          </a:p>
        </p:txBody>
      </p:sp>
      <p:sp>
        <p:nvSpPr>
          <p:cNvPr id="9" name="矩形 8" descr="矩形​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457201"/>
            <a:ext cx="5943600" cy="5943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632699" y="5029200"/>
            <a:ext cx="3932237" cy="1371600"/>
          </a:xfrm>
        </p:spPr>
        <p:txBody>
          <a:bodyPr rtlCol="0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 descr="矩形​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</a:endParaRPr>
          </a:p>
        </p:txBody>
      </p:sp>
      <p:sp>
        <p:nvSpPr>
          <p:cNvPr id="9" name="矩形 8" descr="矩形​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635240" y="5029200"/>
            <a:ext cx="3932237" cy="1374648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34FFEA0-2FAB-4EF6-BBCB-5652D0471888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矩形​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</a:endParaRPr>
          </a:p>
        </p:txBody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 rtlCol="0"/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457200"/>
            <a:ext cx="9067800" cy="5943599"/>
          </a:xfrm>
        </p:spPr>
        <p:txBody>
          <a:bodyPr vert="eaVert" rtlCol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F712C87-A7AF-460B-9149-1B706550DFCC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xmlns="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红色块" descr="红色块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solidFill>
            <a:srgbClr val="12697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47F6537-D2FB-44FA-83DC-81B3E674AA8B}" type="datetime1">
              <a:rPr lang="zh-CN" altLang="en-US" smtClean="0"/>
              <a:t>2026-05-21 Thursday</a:t>
            </a:fld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800"/>
        </a:spcBef>
        <a:buSzPct val="100000"/>
        <a:buFont typeface="Arial" panose="020B0604020202020204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SzPct val="100000"/>
        <a:buFont typeface="Arial" panose="020B0604020202020204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685800" indent="-182880" algn="l" defTabSz="914400" rtl="0" eaLnBrk="1" latinLnBrk="0" hangingPunct="1">
        <a:lnSpc>
          <a:spcPct val="100000"/>
        </a:lnSpc>
        <a:spcBef>
          <a:spcPts val="600"/>
        </a:spcBef>
        <a:buSzPct val="100000"/>
        <a:buFont typeface="Arial" panose="020B0604020202020204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868680" indent="-182880" algn="l" defTabSz="914400" rtl="0" eaLnBrk="1" latinLnBrk="0" hangingPunct="1">
        <a:lnSpc>
          <a:spcPct val="100000"/>
        </a:lnSpc>
        <a:spcBef>
          <a:spcPts val="600"/>
        </a:spcBef>
        <a:buSzPct val="100000"/>
        <a:buFont typeface="Arial" panose="020B0604020202020204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051560" indent="-182880" algn="l" defTabSz="914400" rtl="0" eaLnBrk="1" latinLnBrk="0" hangingPunct="1">
        <a:lnSpc>
          <a:spcPct val="100000"/>
        </a:lnSpc>
        <a:spcBef>
          <a:spcPts val="600"/>
        </a:spcBef>
        <a:buSzPct val="100000"/>
        <a:buFont typeface="Arial" panose="020B0604020202020204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anose="020B0604020202020204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anose="020B0604020202020204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anose="020B0604020202020204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anose="020B0604020202020204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9.png"/><Relationship Id="rId1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8.png"/><Relationship Id="rId17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5.png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image" Target="../media/image6.png"/><Relationship Id="rId19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image" Target="../media/image24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93"/>
            <a:ext cx="12192000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 bwMode="black">
          <a:xfrm>
            <a:off x="1631504" y="2493493"/>
            <a:ext cx="7822588" cy="108012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b="1" cap="all" dirty="0">
                <a:solidFill>
                  <a:schemeClr val="bg1"/>
                </a:solidFill>
                <a:latin typeface="+mj-ea"/>
                <a:ea typeface="+mj-ea"/>
              </a:rPr>
              <a:t>惠州市源医科技有限公司</a:t>
            </a:r>
            <a:endParaRPr lang="en-US" b="1" cap="all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TextBox 1"/>
          <p:cNvSpPr txBox="1"/>
          <p:nvPr/>
        </p:nvSpPr>
        <p:spPr bwMode="black">
          <a:xfrm>
            <a:off x="9228402" y="344840"/>
            <a:ext cx="2313922" cy="504479"/>
          </a:xfrm>
          <a:prstGeom prst="rect">
            <a:avLst/>
          </a:prstGeom>
          <a:noFill/>
        </p:spPr>
        <p:txBody>
          <a:bodyPr wrap="square" lIns="0" tIns="144000" rIns="0" bIns="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3200" b="1" spc="-150" dirty="0" err="1" smtClean="0">
                <a:solidFill>
                  <a:schemeClr val="bg1"/>
                </a:solidFill>
              </a:rPr>
              <a:t>Bluevita</a:t>
            </a:r>
            <a:r>
              <a:rPr lang="en-US" altLang="zh-CN" sz="3200" b="1" spc="-150" dirty="0" err="1" smtClean="0">
                <a:solidFill>
                  <a:schemeClr val="bg1"/>
                </a:solidFill>
              </a:rPr>
              <a:t>t</a:t>
            </a:r>
            <a:r>
              <a:rPr lang="en-US" sz="3200" b="1" spc="-150" dirty="0" err="1" smtClean="0">
                <a:solidFill>
                  <a:schemeClr val="bg1"/>
                </a:solidFill>
              </a:rPr>
              <a:t>ech</a:t>
            </a:r>
            <a:r>
              <a:rPr lang="en-US" sz="3200" b="1" spc="-150" baseline="0" dirty="0">
                <a:solidFill>
                  <a:schemeClr val="bg1"/>
                </a:solidFill>
              </a:rPr>
              <a:t/>
            </a:r>
            <a:br>
              <a:rPr lang="en-US" sz="3200" b="1" spc="-150" baseline="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Smart Mobility Medical</a:t>
            </a:r>
            <a:endParaRPr lang="en-US" sz="1500" b="0" spc="0" baseline="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 bwMode="black">
          <a:xfrm>
            <a:off x="826121" y="2907822"/>
            <a:ext cx="4016966" cy="523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100000"/>
              </a:lnSpc>
              <a:spcBef>
                <a:spcPct val="0"/>
              </a:spcBef>
              <a:buNone/>
              <a:defRPr sz="5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 bwMode="black">
          <a:xfrm>
            <a:off x="826121" y="3716315"/>
            <a:ext cx="4016966" cy="523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100000"/>
              </a:lnSpc>
              <a:spcBef>
                <a:spcPct val="0"/>
              </a:spcBef>
              <a:buNone/>
              <a:defRPr sz="5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23C9C70-B142-9FC6-CBD6-A3B47B7D91C7}"/>
              </a:ext>
            </a:extLst>
          </p:cNvPr>
          <p:cNvSpPr txBox="1"/>
          <p:nvPr/>
        </p:nvSpPr>
        <p:spPr bwMode="black">
          <a:xfrm>
            <a:off x="7968208" y="6022413"/>
            <a:ext cx="4016966" cy="523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100000"/>
              </a:lnSpc>
              <a:spcBef>
                <a:spcPct val="0"/>
              </a:spcBef>
              <a:buNone/>
              <a:defRPr sz="5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bg2"/>
                </a:solidFill>
                <a:latin typeface="+mn-lt"/>
              </a:rPr>
              <a:t>智能移动电子医疗专家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73C77066-2662-83BB-A7CA-907163A20C95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–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公司简介</a:t>
            </a:r>
            <a:endParaRPr 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xmlns="" id="{EEFA24F1-26CB-9B16-663F-1FB9B0863048}"/>
              </a:ext>
            </a:extLst>
          </p:cNvPr>
          <p:cNvSpPr txBox="1">
            <a:spLocks/>
          </p:cNvSpPr>
          <p:nvPr/>
        </p:nvSpPr>
        <p:spPr>
          <a:xfrm>
            <a:off x="1547144" y="1556792"/>
            <a:ext cx="9097711" cy="49391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惠州市源医科技有限公司设立于</a:t>
            </a:r>
            <a:r>
              <a:rPr lang="en-US" altLang="zh-CN" sz="1600" spc="8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2015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年</a:t>
            </a:r>
            <a:r>
              <a:rPr lang="en-US" altLang="zh-CN" sz="1600" spc="8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月，位于惠州市仲恺高新区滨河东路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15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号展创大厦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23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楼</a:t>
            </a:r>
            <a:r>
              <a:rPr lang="zh-CN" altLang="en-US" sz="1600" spc="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 。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注册资本</a:t>
            </a:r>
            <a:r>
              <a:rPr lang="en-US" altLang="zh-CN" sz="1600" spc="8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300</a:t>
            </a:r>
            <a:r>
              <a:rPr lang="zh-CN" altLang="en-US" sz="1600" spc="8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万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元人民币</a:t>
            </a:r>
            <a:endParaRPr lang="zh-CN" altLang="en-US" sz="1600" spc="5" dirty="0">
              <a:solidFill>
                <a:schemeClr val="tx1"/>
              </a:solidFill>
              <a:latin typeface="+mn-ea"/>
              <a:cs typeface="微软雅黑" panose="020B0503020204020204" charset="-122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公司从事电子、通讯设备及相关零部件的</a:t>
            </a:r>
            <a:r>
              <a:rPr lang="zh-CN" altLang="en-US" sz="1600" spc="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技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术研发、生产、销售；生物科技领域的技术开发、技术咨询、技术转让、技术服务；计算机软件</a:t>
            </a:r>
            <a:r>
              <a:rPr lang="zh-CN" altLang="en-US" sz="1600" spc="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开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发、计算机系统集成、计算机软硬件销售，基</a:t>
            </a:r>
            <a:r>
              <a:rPr lang="zh-CN" altLang="en-US" sz="1600" spc="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于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移动通信技术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(2G/3G/4G/5G)</a:t>
            </a:r>
            <a:r>
              <a:rPr lang="zh-CN" altLang="en-US" sz="1600" spc="-24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 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的终端产品开发、生产及销售；第一、二类医疗器械的货物或技</a:t>
            </a:r>
            <a:r>
              <a:rPr lang="zh-CN" altLang="en-US" sz="1600" spc="5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术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的进出口经营</a:t>
            </a:r>
            <a:endParaRPr lang="en-US" altLang="zh-CN" sz="1600" spc="50" dirty="0">
              <a:solidFill>
                <a:schemeClr val="tx1"/>
              </a:solidFill>
              <a:latin typeface="+mn-ea"/>
              <a:cs typeface="微软雅黑" panose="020B0503020204020204" charset="-122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多地办公机构：惠州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+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成都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+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江西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+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香港</a:t>
            </a:r>
            <a:r>
              <a:rPr lang="en-US" altLang="zh-CN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+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美国</a:t>
            </a:r>
            <a:endParaRPr lang="en-US" altLang="zh-CN" sz="1600" spc="50" dirty="0">
              <a:solidFill>
                <a:schemeClr val="tx1"/>
              </a:solidFill>
              <a:latin typeface="+mn-ea"/>
              <a:cs typeface="微软雅黑" panose="020B0503020204020204" charset="-122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国家级</a:t>
            </a:r>
            <a:r>
              <a:rPr lang="zh-CN" altLang="en-US" sz="1600" spc="114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高新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技</a:t>
            </a:r>
            <a:r>
              <a:rPr lang="zh-CN" altLang="en-US" sz="1600" spc="50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术企业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”“双软企业”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广东省级专精特新企业</a:t>
            </a:r>
            <a:r>
              <a:rPr lang="en-US" altLang="zh-CN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”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105" dirty="0" smtClean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主要</a:t>
            </a:r>
            <a:r>
              <a:rPr lang="zh-CN" altLang="en-US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产品及客户分布在北美及欧洲市场，</a:t>
            </a:r>
            <a:r>
              <a:rPr lang="en-US" altLang="zh-CN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80%</a:t>
            </a:r>
            <a:r>
              <a:rPr lang="zh-CN" altLang="en-US" sz="1600" spc="10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客户为上市公司企业客户</a:t>
            </a:r>
            <a:endParaRPr lang="en-US" altLang="zh-CN" sz="1600" spc="105" dirty="0">
              <a:solidFill>
                <a:schemeClr val="tx1"/>
              </a:solidFill>
              <a:latin typeface="+mn-ea"/>
              <a:cs typeface="微软雅黑" panose="020B0503020204020204" charset="-122"/>
              <a:sym typeface="+mn-ea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拥有中国大陆自有组装工厂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江西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，海外制造合作工厂（越南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菲律宾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日本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美国</a:t>
            </a:r>
            <a:r>
              <a:rPr lang="en-US" altLang="zh-CN" sz="1600" spc="45" dirty="0">
                <a:solidFill>
                  <a:schemeClr val="tx1"/>
                </a:solidFill>
                <a:latin typeface="+mn-ea"/>
                <a:cs typeface="微软雅黑" panose="020B0503020204020204" charset="-122"/>
                <a:sym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871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0B73D1-7652-E8EF-CE0A-C230E24C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xmlns="" id="{3EE1B877-7CDB-6976-2504-2C9C796168A1}"/>
              </a:ext>
            </a:extLst>
          </p:cNvPr>
          <p:cNvSpPr txBox="1"/>
          <p:nvPr/>
        </p:nvSpPr>
        <p:spPr>
          <a:xfrm>
            <a:off x="1412110" y="1628800"/>
            <a:ext cx="10480533" cy="4968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228600" lvl="1" indent="0">
              <a:lnSpc>
                <a:spcPct val="150000"/>
              </a:lnSpc>
              <a:buNone/>
            </a:pP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平台合作伙伴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Qualcomm   4G/5G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通信</a:t>
            </a: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&amp;AI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算力平台</a:t>
            </a:r>
            <a:endParaRPr lang="en-US" altLang="zh-C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Samsung LSI 4G/5G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通信</a:t>
            </a: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&amp;AI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算力平台</a:t>
            </a:r>
            <a:endParaRPr lang="en-US" altLang="zh-C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 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操作系统</a:t>
            </a: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&amp;AI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模型平台</a:t>
            </a:r>
            <a:endParaRPr lang="en-US" altLang="zh-C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GCT – 4G/5G</a:t>
            </a:r>
            <a:r>
              <a: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通信平台</a:t>
            </a:r>
            <a:endParaRPr lang="en-US" altLang="zh-C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2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 indent="0">
              <a:lnSpc>
                <a:spcPct val="150000"/>
              </a:lnSpc>
              <a:buNone/>
            </a:pPr>
            <a:r>
              <a:rPr lang="zh-CN" altLang="en-US" sz="3400" dirty="0">
                <a:latin typeface="Arial" panose="020B0604020202020204" pitchFamily="34" charset="0"/>
                <a:cs typeface="Arial" panose="020B0604020202020204" pitchFamily="34" charset="0"/>
              </a:rPr>
              <a:t>业务合作伙伴</a:t>
            </a:r>
            <a:endParaRPr lang="en-US" altLang="zh-CN" sz="5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</a:rPr>
              <a:t>Philips Heath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</a:rPr>
              <a:t>Bio Telemetry Inc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0070C0"/>
                </a:solidFill>
              </a:rPr>
              <a:t>Livongo</a:t>
            </a:r>
            <a:r>
              <a:rPr lang="en-US" altLang="zh-CN" sz="1600" dirty="0">
                <a:solidFill>
                  <a:srgbClr val="0070C0"/>
                </a:solidFill>
              </a:rPr>
              <a:t> Health Inc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0070C0"/>
                </a:solidFill>
              </a:rPr>
              <a:t>Synnex</a:t>
            </a:r>
            <a:r>
              <a:rPr lang="en-US" altLang="zh-CN" sz="1600" dirty="0">
                <a:solidFill>
                  <a:srgbClr val="0070C0"/>
                </a:solidFill>
              </a:rPr>
              <a:t> Corp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0070C0"/>
                </a:solidFill>
              </a:rPr>
              <a:t>Pilltracker</a:t>
            </a:r>
            <a:r>
              <a:rPr lang="en-US" altLang="zh-CN" sz="1600" dirty="0">
                <a:solidFill>
                  <a:srgbClr val="0070C0"/>
                </a:solidFill>
              </a:rPr>
              <a:t> Ltd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</a:rPr>
              <a:t>DEKA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0070C0"/>
                </a:solidFill>
              </a:rPr>
              <a:t>Vmed</a:t>
            </a:r>
            <a:endParaRPr lang="en-US" altLang="zh-CN" sz="1600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70C0"/>
                </a:solidFill>
              </a:rPr>
              <a:t>CAT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 indent="0">
              <a:lnSpc>
                <a:spcPct val="150000"/>
              </a:lnSpc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878D15C-C68D-B7D3-7AEF-52C28C6CC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416" y="1955153"/>
            <a:ext cx="1529963" cy="15137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0CB0016-15D6-D688-7DBC-0D74D469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879" y="1806072"/>
            <a:ext cx="2088401" cy="8334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38A50D-077A-6F4C-C6C6-D56F0D85E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080" y="2724854"/>
            <a:ext cx="2088400" cy="764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4A1CC5B-82D6-4AD8-7C38-A4B03EAD8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647" y="4126075"/>
            <a:ext cx="1237228" cy="1460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500F257-59B4-8733-2F5E-25AE4E98F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857" y="4837004"/>
            <a:ext cx="1800032" cy="737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536E95E-DC3F-E25C-404B-F027B22D7C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891" y="4106920"/>
            <a:ext cx="2820543" cy="625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940825D-C402-0E49-B30A-767337A585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7865" y="4180975"/>
            <a:ext cx="1288394" cy="1357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D4FB66B-2FF5-5597-44EB-F4BB57E35C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7647" y="5856861"/>
            <a:ext cx="1905000" cy="552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5DF73BF9-53BF-273F-1E43-355F4037D1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5401" y="1961445"/>
            <a:ext cx="1410456" cy="15011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xmlns="" id="{054827BF-ABEB-E203-A8D3-A0940AD3037A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</a:t>
            </a:r>
            <a:r>
              <a:rPr lang="zh-CN" altLang="en-US" dirty="0">
                <a:solidFill>
                  <a:schemeClr val="bg1"/>
                </a:solidFill>
              </a:rPr>
              <a:t>产品平台及合作伙伴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94FB58E-D2D2-7E99-C96B-3AB67750C7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705" y="4788376"/>
            <a:ext cx="1237228" cy="8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8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">
            <a:extLst>
              <a:ext uri="{FF2B5EF4-FFF2-40B4-BE49-F238E27FC236}">
                <a16:creationId xmlns:a16="http://schemas.microsoft.com/office/drawing/2014/main" xmlns="" id="{E7684742-91EA-17E6-3522-36974A2F7476}"/>
              </a:ext>
            </a:extLst>
          </p:cNvPr>
          <p:cNvSpPr txBox="1"/>
          <p:nvPr/>
        </p:nvSpPr>
        <p:spPr>
          <a:xfrm>
            <a:off x="989209" y="1638954"/>
            <a:ext cx="6036495" cy="2251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公司长期</a:t>
            </a:r>
            <a:r>
              <a:rPr lang="zh-CN" altLang="en-US" sz="160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专注于北美移动运营商</a:t>
            </a:r>
            <a:r>
              <a:rPr lang="en-US" altLang="zh-CN" sz="1600" spc="-5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AT&amp;T</a:t>
            </a:r>
            <a:r>
              <a:rPr lang="zh-CN" altLang="en-US" sz="1600" spc="-5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 spc="-15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Verizon</a:t>
            </a:r>
            <a:r>
              <a:rPr lang="zh-CN" altLang="en-US" sz="1600" spc="-15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600" spc="-4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600" spc="-15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T-Mobile</a:t>
            </a:r>
            <a:r>
              <a:rPr lang="zh-CN" altLang="en-US" sz="1600" spc="-15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600" spc="-4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600" spc="-1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TracFone</a:t>
            </a:r>
            <a:r>
              <a:rPr lang="zh-CN" altLang="en-US" sz="1600" spc="-1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600" dirty="0">
                <a:solidFill>
                  <a:schemeClr val="dk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产品定制市场，开发了多款移动通讯终端软件和产品。 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医疗电子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软件输出产品均取得美国 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lang="en-US" altLang="zh-CN" sz="1600" dirty="0">
              <a:solidFill>
                <a:srgbClr val="0070C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D8B520-F492-B316-AEF4-3F1C377959DB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</a:t>
            </a:r>
            <a:r>
              <a:rPr lang="zh-CN" altLang="en-US" dirty="0">
                <a:solidFill>
                  <a:schemeClr val="bg1"/>
                </a:solidFill>
              </a:rPr>
              <a:t>技术知识产权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63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A63D6E-05C5-03FC-1C88-1DFEE4B4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">
            <a:extLst>
              <a:ext uri="{FF2B5EF4-FFF2-40B4-BE49-F238E27FC236}">
                <a16:creationId xmlns:a16="http://schemas.microsoft.com/office/drawing/2014/main" xmlns="" id="{0272D178-B9F2-5FFB-4C16-F9750BC29BB9}"/>
              </a:ext>
            </a:extLst>
          </p:cNvPr>
          <p:cNvSpPr txBox="1"/>
          <p:nvPr/>
        </p:nvSpPr>
        <p:spPr>
          <a:xfrm>
            <a:off x="1412110" y="1628801"/>
            <a:ext cx="10012482" cy="3168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致力于满足北美市场标准的企业级智能医疗电子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/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移动通信终端方案提供商，依托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4G/5G/6G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宽带移动通信技术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互联网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+AI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技术深度融合实现产品跨维度赋能，为企业客户提供高标准高质量的智能手机、平板、物联网终端、数据终端、智能医疗终端产品。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始于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2002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年，拥有超过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20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年的移动终端平台持续精耕的核心技术团队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始于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2005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年，拥有超过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20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年专注于北美运营商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(Verizon/T-Mobile/AT&amp;T)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高门槛专属定制的产品管理和开发体系和供应体系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拥有国际主流的移动通信终端芯片平台的技术开发授权和支持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基于产品平台的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NPU/CPU/GPU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算力，整合多种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模型训练，处理边缘计算策略，为客户提供构建 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 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应用和智能体应用的产品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通过谷歌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EDLA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认证，为企业客户提供智能手机、平板、物联网终端、数据终端、智能医疗终端产品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•	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产品支持移动互联网系统部署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移动客户端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服务器服务端</a:t>
            </a:r>
            <a:r>
              <a:rPr lang="en-US" altLang="zh-CN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) </a:t>
            </a:r>
            <a:r>
              <a:rPr lang="zh-CN" altLang="en-US" sz="22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和应用，为客户实现产品跨维度拓展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366CB3A-813D-E741-EEE7-E295EB956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89" y="5028212"/>
            <a:ext cx="1905566" cy="634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81A96D4-FDA0-FDFC-C6D7-2E8F59A4C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431" y="5153301"/>
            <a:ext cx="943385" cy="1175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60287A8-C167-BFAA-4B2E-8FF5E7AD4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414" y="5893473"/>
            <a:ext cx="1627595" cy="634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F880B06A-F21A-F06A-2CAD-6647C31BC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5384180"/>
            <a:ext cx="810718" cy="9569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916BD4-5FC1-8836-9ED8-B49351438E35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</a:t>
            </a:r>
            <a:r>
              <a:rPr lang="zh-CN" altLang="en-US" dirty="0">
                <a:solidFill>
                  <a:schemeClr val="bg1"/>
                </a:solidFill>
              </a:rPr>
              <a:t>核心技术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2E872A8-3531-3C99-CB96-DA476DCC8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920" y="5392726"/>
            <a:ext cx="868958" cy="924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A30C060-03E1-F7AB-6B6C-00BE0FC74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619" y="5384180"/>
            <a:ext cx="943385" cy="9334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47FD96E-CC66-6B61-CA6C-E6B025303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728" y="5211400"/>
            <a:ext cx="810718" cy="565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E7DB09A-302B-62F2-6A9F-A704724F3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6728" y="5917056"/>
            <a:ext cx="1383912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0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20C4DC-114B-AA31-6EE2-700C1865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">
            <a:extLst>
              <a:ext uri="{FF2B5EF4-FFF2-40B4-BE49-F238E27FC236}">
                <a16:creationId xmlns:a16="http://schemas.microsoft.com/office/drawing/2014/main" xmlns="" id="{8AD5C636-406C-B613-A06A-E9F2853ECA10}"/>
              </a:ext>
            </a:extLst>
          </p:cNvPr>
          <p:cNvSpPr txBox="1"/>
          <p:nvPr/>
        </p:nvSpPr>
        <p:spPr>
          <a:xfrm>
            <a:off x="1446834" y="1628800"/>
            <a:ext cx="8819010" cy="4111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宽带移动通信技术</a:t>
            </a:r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zh-CN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互联网</a:t>
            </a:r>
            <a:r>
              <a:rPr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+AI</a:t>
            </a:r>
            <a:r>
              <a:rPr lang="zh-CN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技术深度融合实现产品跨维度赋能</a:t>
            </a:r>
            <a:endParaRPr lang="en-US" altLang="zh-C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产品支持宽带移动通信技术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4G/5G/5G-A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产品规格以及超宽带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6G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技术预研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WiFi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规格支持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WiFi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6e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WiFi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7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以及多用户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MU-MIMO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产品支持传感器集线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Sensor Hub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规范，实现</a:t>
            </a: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MEMS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传感器的控制和数据采集及处理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依托平台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NPU/CPU/GPU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算力，整合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大模型训练，处理边缘计算策略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产品支持与服务器数据中心的数据交互、云计算以及拓展大数据二次应用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产品支持移动互联网系统部署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(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移动客户端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服务器服务端）和应用，实现产品跨维度拓展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E5879D7-20F7-F752-0DA9-FB0226E8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431" y="4535415"/>
            <a:ext cx="4324350" cy="2088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39B660-7106-11E0-F14F-5EEE7603D574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</a:t>
            </a:r>
            <a:r>
              <a:rPr lang="zh-CN" altLang="en-US" dirty="0">
                <a:solidFill>
                  <a:schemeClr val="bg1"/>
                </a:solidFill>
              </a:rPr>
              <a:t>移动互联 </a:t>
            </a:r>
            <a:r>
              <a:rPr lang="en-US" altLang="zh-CN" dirty="0">
                <a:solidFill>
                  <a:schemeClr val="bg1"/>
                </a:solidFill>
              </a:rPr>
              <a:t>+ AI</a:t>
            </a:r>
            <a:r>
              <a:rPr lang="zh-CN" altLang="en-US" dirty="0">
                <a:solidFill>
                  <a:schemeClr val="bg1"/>
                </a:solidFill>
              </a:rPr>
              <a:t>技术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9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CFDE0C-BFE4-C7C0-A7B6-56F0C841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">
            <a:extLst>
              <a:ext uri="{FF2B5EF4-FFF2-40B4-BE49-F238E27FC236}">
                <a16:creationId xmlns:a16="http://schemas.microsoft.com/office/drawing/2014/main" xmlns="" id="{F013D9A8-C7C0-AC4D-B262-5563D915F660}"/>
              </a:ext>
            </a:extLst>
          </p:cNvPr>
          <p:cNvSpPr txBox="1"/>
          <p:nvPr/>
        </p:nvSpPr>
        <p:spPr>
          <a:xfrm>
            <a:off x="1412110" y="1628801"/>
            <a:ext cx="7853810" cy="2475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产品全面对接适配谷歌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Google Gemini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实现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多样赋能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Gemini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生态：极致诠释 </a:t>
            </a: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Google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最强 </a:t>
            </a: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依托平台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NPU/CPU/GPU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算力，支持 </a:t>
            </a: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Gemini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多种模型构建 </a:t>
            </a:r>
            <a:r>
              <a:rPr 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应用和智能体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实现多模态而构建，具备跨文本、图像、音频、视频和代码无缝推理的超强能力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从小模型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Nano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到超大模型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Ultra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都已实现学习和部署</a:t>
            </a:r>
            <a:endParaRPr lang="en-US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FB114B5-4006-87C1-3CF1-79AC35DF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137" y="1798417"/>
            <a:ext cx="2086861" cy="1994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21B8283-CDB7-5BFC-A82C-BE354446F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882" y="3793265"/>
            <a:ext cx="3487742" cy="1016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2B041DF-66D6-DC9E-C21A-68DDA4B5E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91" y="5229198"/>
            <a:ext cx="820258" cy="10168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39610751-C2AF-8579-1062-0204A6532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485" y="5229198"/>
            <a:ext cx="822555" cy="1016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2E8014CF-C66C-0C95-8F2D-7E1FEEDD6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156" y="5229199"/>
            <a:ext cx="820258" cy="10176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C7865DA9-BB99-E8E3-72ED-C6A48715C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728" y="5229199"/>
            <a:ext cx="785601" cy="101689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0E4DB1B-3EA1-D857-5EE7-ED73381F2063}"/>
              </a:ext>
            </a:extLst>
          </p:cNvPr>
          <p:cNvSpPr txBox="1"/>
          <p:nvPr/>
        </p:nvSpPr>
        <p:spPr>
          <a:xfrm>
            <a:off x="2338591" y="6380480"/>
            <a:ext cx="82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0EEF084-5B18-7E0B-EDA2-3730882D789F}"/>
              </a:ext>
            </a:extLst>
          </p:cNvPr>
          <p:cNvSpPr txBox="1"/>
          <p:nvPr/>
        </p:nvSpPr>
        <p:spPr>
          <a:xfrm>
            <a:off x="4501485" y="6380480"/>
            <a:ext cx="82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A7BEA8EF-0436-C29E-773A-CE11AE72636D}"/>
              </a:ext>
            </a:extLst>
          </p:cNvPr>
          <p:cNvSpPr txBox="1"/>
          <p:nvPr/>
        </p:nvSpPr>
        <p:spPr>
          <a:xfrm>
            <a:off x="6658399" y="6380480"/>
            <a:ext cx="82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270586CF-3CDE-0F50-2AA7-BC4E8AE533A1}"/>
              </a:ext>
            </a:extLst>
          </p:cNvPr>
          <p:cNvSpPr txBox="1"/>
          <p:nvPr/>
        </p:nvSpPr>
        <p:spPr>
          <a:xfrm>
            <a:off x="8846156" y="6380480"/>
            <a:ext cx="82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4CB8A18E-BB15-352F-3285-6ADE2B5528DC}"/>
              </a:ext>
            </a:extLst>
          </p:cNvPr>
          <p:cNvCxnSpPr/>
          <p:nvPr/>
        </p:nvCxnSpPr>
        <p:spPr>
          <a:xfrm flipH="1">
            <a:off x="2834640" y="4439920"/>
            <a:ext cx="934720" cy="629920"/>
          </a:xfrm>
          <a:prstGeom prst="straightConnector1">
            <a:avLst/>
          </a:prstGeom>
          <a:ln w="50800">
            <a:gradFill flip="none" rotWithShape="1">
              <a:gsLst>
                <a:gs pos="0">
                  <a:srgbClr val="CA06CA">
                    <a:alpha val="96863"/>
                  </a:srgb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3F035B1C-0063-4AA1-F400-FD815EF00152}"/>
              </a:ext>
            </a:extLst>
          </p:cNvPr>
          <p:cNvCxnSpPr>
            <a:cxnSpLocks/>
          </p:cNvCxnSpPr>
          <p:nvPr/>
        </p:nvCxnSpPr>
        <p:spPr>
          <a:xfrm>
            <a:off x="8205527" y="4401616"/>
            <a:ext cx="1050758" cy="693197"/>
          </a:xfrm>
          <a:prstGeom prst="straightConnector1">
            <a:avLst/>
          </a:prstGeom>
          <a:ln w="50800">
            <a:gradFill flip="none" rotWithShape="1">
              <a:gsLst>
                <a:gs pos="0">
                  <a:srgbClr val="CA06CA">
                    <a:alpha val="96863"/>
                  </a:srgb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EBE85A07-B98D-BFB3-C10A-965BBB906CFF}"/>
              </a:ext>
            </a:extLst>
          </p:cNvPr>
          <p:cNvCxnSpPr>
            <a:cxnSpLocks/>
          </p:cNvCxnSpPr>
          <p:nvPr/>
        </p:nvCxnSpPr>
        <p:spPr>
          <a:xfrm>
            <a:off x="4913770" y="4874151"/>
            <a:ext cx="0" cy="324567"/>
          </a:xfrm>
          <a:prstGeom prst="straightConnector1">
            <a:avLst/>
          </a:prstGeom>
          <a:ln w="50800">
            <a:gradFill flip="none" rotWithShape="1">
              <a:gsLst>
                <a:gs pos="0">
                  <a:srgbClr val="CA06CA">
                    <a:alpha val="96863"/>
                  </a:srgb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FF213B32-3421-AC31-08B7-054EFCE6A78C}"/>
              </a:ext>
            </a:extLst>
          </p:cNvPr>
          <p:cNvCxnSpPr>
            <a:cxnSpLocks/>
          </p:cNvCxnSpPr>
          <p:nvPr/>
        </p:nvCxnSpPr>
        <p:spPr>
          <a:xfrm>
            <a:off x="7068528" y="4874151"/>
            <a:ext cx="0" cy="324567"/>
          </a:xfrm>
          <a:prstGeom prst="straightConnector1">
            <a:avLst/>
          </a:prstGeom>
          <a:ln w="50800">
            <a:gradFill flip="none" rotWithShape="1">
              <a:gsLst>
                <a:gs pos="0">
                  <a:srgbClr val="CA06CA">
                    <a:alpha val="96863"/>
                  </a:srgb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F7FDD5C5-5ED0-72E9-6B2C-C95ABF915258}"/>
              </a:ext>
            </a:extLst>
          </p:cNvPr>
          <p:cNvSpPr txBox="1"/>
          <p:nvPr/>
        </p:nvSpPr>
        <p:spPr>
          <a:xfrm>
            <a:off x="1228045" y="5552979"/>
            <a:ext cx="103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</a:t>
            </a:r>
            <a:r>
              <a:rPr lang="zh-CN" altLang="en-US" dirty="0"/>
              <a:t>模型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9E2DFD7A-AB24-1C4E-77A2-21281CA6C83B}"/>
              </a:ext>
            </a:extLst>
          </p:cNvPr>
          <p:cNvCxnSpPr>
            <a:cxnSpLocks/>
          </p:cNvCxnSpPr>
          <p:nvPr/>
        </p:nvCxnSpPr>
        <p:spPr>
          <a:xfrm>
            <a:off x="3589506" y="5739319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7EA9CB71-35E3-7609-4200-798B66D55B62}"/>
              </a:ext>
            </a:extLst>
          </p:cNvPr>
          <p:cNvCxnSpPr>
            <a:cxnSpLocks/>
          </p:cNvCxnSpPr>
          <p:nvPr/>
        </p:nvCxnSpPr>
        <p:spPr>
          <a:xfrm>
            <a:off x="5755531" y="5667983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98BD4C3A-8DCF-6389-41F3-1F3669118B8D}"/>
              </a:ext>
            </a:extLst>
          </p:cNvPr>
          <p:cNvCxnSpPr>
            <a:cxnSpLocks/>
          </p:cNvCxnSpPr>
          <p:nvPr/>
        </p:nvCxnSpPr>
        <p:spPr>
          <a:xfrm>
            <a:off x="5755531" y="5899613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C4741ACB-BB56-3A72-2A1F-97B57EECC735}"/>
              </a:ext>
            </a:extLst>
          </p:cNvPr>
          <p:cNvCxnSpPr>
            <a:cxnSpLocks/>
          </p:cNvCxnSpPr>
          <p:nvPr/>
        </p:nvCxnSpPr>
        <p:spPr>
          <a:xfrm>
            <a:off x="7947498" y="5552979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93B1CE78-8F58-15FB-D10B-22B4FC6EAEB6}"/>
              </a:ext>
            </a:extLst>
          </p:cNvPr>
          <p:cNvCxnSpPr>
            <a:cxnSpLocks/>
          </p:cNvCxnSpPr>
          <p:nvPr/>
        </p:nvCxnSpPr>
        <p:spPr>
          <a:xfrm>
            <a:off x="7947498" y="5739319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F21622E2-B812-E38C-2424-354EDF4FD433}"/>
              </a:ext>
            </a:extLst>
          </p:cNvPr>
          <p:cNvCxnSpPr>
            <a:cxnSpLocks/>
          </p:cNvCxnSpPr>
          <p:nvPr/>
        </p:nvCxnSpPr>
        <p:spPr>
          <a:xfrm>
            <a:off x="7947498" y="5922311"/>
            <a:ext cx="428017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37CD6-9C06-01DF-D354-0503AD72CEF2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AI</a:t>
            </a:r>
            <a:r>
              <a:rPr lang="zh-CN" altLang="en-US" dirty="0">
                <a:solidFill>
                  <a:schemeClr val="bg1"/>
                </a:solidFill>
              </a:rPr>
              <a:t>创新技术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91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35"/>
          <p:cNvSpPr/>
          <p:nvPr>
            <p:custDataLst>
              <p:tags r:id="rId2"/>
            </p:custDataLst>
          </p:nvPr>
        </p:nvSpPr>
        <p:spPr>
          <a:xfrm>
            <a:off x="1954705" y="1603237"/>
            <a:ext cx="1399573" cy="512216"/>
          </a:xfrm>
          <a:prstGeom prst="roundRect">
            <a:avLst>
              <a:gd name="adj" fmla="val 1137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16200000" rotWithShape="0">
              <a:prstClr val="black">
                <a:alpha val="12000"/>
              </a:prstClr>
            </a:outerShdw>
          </a:effectLst>
        </p:spPr>
        <p:txBody>
          <a:bodyPr rtlCol="0" anchor="ctr"/>
          <a:lstStyle/>
          <a:p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39"/>
          <p:cNvSpPr/>
          <p:nvPr>
            <p:custDataLst>
              <p:tags r:id="rId3"/>
            </p:custDataLst>
          </p:nvPr>
        </p:nvSpPr>
        <p:spPr>
          <a:xfrm>
            <a:off x="1682696" y="1604146"/>
            <a:ext cx="1949160" cy="696793"/>
          </a:xfrm>
          <a:custGeom>
            <a:avLst/>
            <a:gdLst>
              <a:gd name="connsiteX0" fmla="*/ 84191 w 1884885"/>
              <a:gd name="connsiteY0" fmla="*/ 0 h 740467"/>
              <a:gd name="connsiteX1" fmla="*/ 267510 w 1884885"/>
              <a:gd name="connsiteY1" fmla="*/ 0 h 740467"/>
              <a:gd name="connsiteX2" fmla="*/ 267510 w 1884885"/>
              <a:gd name="connsiteY2" fmla="*/ 206595 h 740467"/>
              <a:gd name="connsiteX3" fmla="*/ 1617373 w 1884885"/>
              <a:gd name="connsiteY3" fmla="*/ 206595 h 740467"/>
              <a:gd name="connsiteX4" fmla="*/ 1617373 w 1884885"/>
              <a:gd name="connsiteY4" fmla="*/ 0 h 740467"/>
              <a:gd name="connsiteX5" fmla="*/ 1800694 w 1884885"/>
              <a:gd name="connsiteY5" fmla="*/ 0 h 740467"/>
              <a:gd name="connsiteX6" fmla="*/ 1884885 w 1884885"/>
              <a:gd name="connsiteY6" fmla="*/ 84191 h 740467"/>
              <a:gd name="connsiteX7" fmla="*/ 1884885 w 1884885"/>
              <a:gd name="connsiteY7" fmla="*/ 656276 h 740467"/>
              <a:gd name="connsiteX8" fmla="*/ 1800694 w 1884885"/>
              <a:gd name="connsiteY8" fmla="*/ 740467 h 740467"/>
              <a:gd name="connsiteX9" fmla="*/ 84191 w 1884885"/>
              <a:gd name="connsiteY9" fmla="*/ 740467 h 740467"/>
              <a:gd name="connsiteX10" fmla="*/ 0 w 1884885"/>
              <a:gd name="connsiteY10" fmla="*/ 656276 h 740467"/>
              <a:gd name="connsiteX11" fmla="*/ 0 w 1884885"/>
              <a:gd name="connsiteY11" fmla="*/ 84191 h 740467"/>
              <a:gd name="connsiteX12" fmla="*/ 84191 w 1884885"/>
              <a:gd name="connsiteY12" fmla="*/ 0 h 74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4885" h="740467">
                <a:moveTo>
                  <a:pt x="84191" y="0"/>
                </a:moveTo>
                <a:lnTo>
                  <a:pt x="267510" y="0"/>
                </a:lnTo>
                <a:lnTo>
                  <a:pt x="267510" y="206595"/>
                </a:lnTo>
                <a:lnTo>
                  <a:pt x="1617373" y="206595"/>
                </a:lnTo>
                <a:lnTo>
                  <a:pt x="1617373" y="0"/>
                </a:lnTo>
                <a:lnTo>
                  <a:pt x="1800694" y="0"/>
                </a:lnTo>
                <a:cubicBezTo>
                  <a:pt x="1847191" y="0"/>
                  <a:pt x="1884885" y="37694"/>
                  <a:pt x="1884885" y="84191"/>
                </a:cubicBezTo>
                <a:lnTo>
                  <a:pt x="1884885" y="656276"/>
                </a:lnTo>
                <a:cubicBezTo>
                  <a:pt x="1884885" y="702773"/>
                  <a:pt x="1847191" y="740467"/>
                  <a:pt x="1800694" y="740467"/>
                </a:cubicBezTo>
                <a:lnTo>
                  <a:pt x="84191" y="740467"/>
                </a:lnTo>
                <a:cubicBezTo>
                  <a:pt x="37694" y="740467"/>
                  <a:pt x="0" y="702773"/>
                  <a:pt x="0" y="656276"/>
                </a:cubicBezTo>
                <a:lnTo>
                  <a:pt x="0" y="84191"/>
                </a:lnTo>
                <a:cubicBezTo>
                  <a:pt x="0" y="37694"/>
                  <a:pt x="37694" y="0"/>
                  <a:pt x="84191" y="0"/>
                </a:cubicBezTo>
                <a:close/>
              </a:path>
            </a:pathLst>
          </a:custGeom>
          <a:solidFill>
            <a:srgbClr val="92D05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>
            <a:outerShdw blurRad="165100" sx="102000" sy="102000" algn="ctr" rotWithShape="0">
              <a:schemeClr val="dk2">
                <a:alpha val="2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sz="1865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医疗智能终端</a:t>
            </a:r>
            <a:endParaRPr lang="zh-CN" altLang="en-US" sz="1865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8" name="圆角矩形 46"/>
          <p:cNvSpPr/>
          <p:nvPr>
            <p:custDataLst>
              <p:tags r:id="rId4"/>
            </p:custDataLst>
          </p:nvPr>
        </p:nvSpPr>
        <p:spPr>
          <a:xfrm>
            <a:off x="5602588" y="1590813"/>
            <a:ext cx="1399573" cy="512216"/>
          </a:xfrm>
          <a:prstGeom prst="roundRect">
            <a:avLst>
              <a:gd name="adj" fmla="val 1137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16200000" rotWithShape="0">
              <a:prstClr val="black">
                <a:alpha val="12000"/>
              </a:prstClr>
            </a:outerShdw>
          </a:effectLst>
        </p:spPr>
        <p:txBody>
          <a:bodyPr rtlCol="0" anchor="ctr"/>
          <a:lstStyle/>
          <a:p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47"/>
          <p:cNvSpPr/>
          <p:nvPr>
            <p:custDataLst>
              <p:tags r:id="rId5"/>
            </p:custDataLst>
          </p:nvPr>
        </p:nvSpPr>
        <p:spPr>
          <a:xfrm>
            <a:off x="5361089" y="1590032"/>
            <a:ext cx="1883202" cy="698484"/>
          </a:xfrm>
          <a:custGeom>
            <a:avLst/>
            <a:gdLst>
              <a:gd name="connsiteX0" fmla="*/ 84191 w 1884885"/>
              <a:gd name="connsiteY0" fmla="*/ 0 h 740467"/>
              <a:gd name="connsiteX1" fmla="*/ 267510 w 1884885"/>
              <a:gd name="connsiteY1" fmla="*/ 0 h 740467"/>
              <a:gd name="connsiteX2" fmla="*/ 267510 w 1884885"/>
              <a:gd name="connsiteY2" fmla="*/ 206595 h 740467"/>
              <a:gd name="connsiteX3" fmla="*/ 1617373 w 1884885"/>
              <a:gd name="connsiteY3" fmla="*/ 206595 h 740467"/>
              <a:gd name="connsiteX4" fmla="*/ 1617373 w 1884885"/>
              <a:gd name="connsiteY4" fmla="*/ 0 h 740467"/>
              <a:gd name="connsiteX5" fmla="*/ 1800694 w 1884885"/>
              <a:gd name="connsiteY5" fmla="*/ 0 h 740467"/>
              <a:gd name="connsiteX6" fmla="*/ 1884885 w 1884885"/>
              <a:gd name="connsiteY6" fmla="*/ 84191 h 740467"/>
              <a:gd name="connsiteX7" fmla="*/ 1884885 w 1884885"/>
              <a:gd name="connsiteY7" fmla="*/ 656276 h 740467"/>
              <a:gd name="connsiteX8" fmla="*/ 1800694 w 1884885"/>
              <a:gd name="connsiteY8" fmla="*/ 740467 h 740467"/>
              <a:gd name="connsiteX9" fmla="*/ 84191 w 1884885"/>
              <a:gd name="connsiteY9" fmla="*/ 740467 h 740467"/>
              <a:gd name="connsiteX10" fmla="*/ 0 w 1884885"/>
              <a:gd name="connsiteY10" fmla="*/ 656276 h 740467"/>
              <a:gd name="connsiteX11" fmla="*/ 0 w 1884885"/>
              <a:gd name="connsiteY11" fmla="*/ 84191 h 740467"/>
              <a:gd name="connsiteX12" fmla="*/ 84191 w 1884885"/>
              <a:gd name="connsiteY12" fmla="*/ 0 h 74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4885" h="740467">
                <a:moveTo>
                  <a:pt x="84191" y="0"/>
                </a:moveTo>
                <a:lnTo>
                  <a:pt x="267510" y="0"/>
                </a:lnTo>
                <a:lnTo>
                  <a:pt x="267510" y="206595"/>
                </a:lnTo>
                <a:lnTo>
                  <a:pt x="1617373" y="206595"/>
                </a:lnTo>
                <a:lnTo>
                  <a:pt x="1617373" y="0"/>
                </a:lnTo>
                <a:lnTo>
                  <a:pt x="1800694" y="0"/>
                </a:lnTo>
                <a:cubicBezTo>
                  <a:pt x="1847191" y="0"/>
                  <a:pt x="1884885" y="37694"/>
                  <a:pt x="1884885" y="84191"/>
                </a:cubicBezTo>
                <a:lnTo>
                  <a:pt x="1884885" y="656276"/>
                </a:lnTo>
                <a:cubicBezTo>
                  <a:pt x="1884885" y="702773"/>
                  <a:pt x="1847191" y="740467"/>
                  <a:pt x="1800694" y="740467"/>
                </a:cubicBezTo>
                <a:lnTo>
                  <a:pt x="84191" y="740467"/>
                </a:lnTo>
                <a:cubicBezTo>
                  <a:pt x="37694" y="740467"/>
                  <a:pt x="0" y="702773"/>
                  <a:pt x="0" y="656276"/>
                </a:cubicBezTo>
                <a:lnTo>
                  <a:pt x="0" y="84191"/>
                </a:lnTo>
                <a:cubicBezTo>
                  <a:pt x="0" y="37694"/>
                  <a:pt x="37694" y="0"/>
                  <a:pt x="84191" y="0"/>
                </a:cubicBez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>
            <a:outerShdw blurRad="165100" sx="102000" sy="102000" algn="ctr" rotWithShape="0">
              <a:schemeClr val="dk2">
                <a:alpha val="2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sz="1865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移动通信终端</a:t>
            </a:r>
            <a:endParaRPr lang="zh-CN" altLang="en-US" sz="1865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1" name="圆角矩形 51"/>
          <p:cNvSpPr/>
          <p:nvPr>
            <p:custDataLst>
              <p:tags r:id="rId6"/>
            </p:custDataLst>
          </p:nvPr>
        </p:nvSpPr>
        <p:spPr>
          <a:xfrm>
            <a:off x="9108823" y="1598214"/>
            <a:ext cx="1400482" cy="513812"/>
          </a:xfrm>
          <a:prstGeom prst="roundRect">
            <a:avLst>
              <a:gd name="adj" fmla="val 1137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16200000" rotWithShape="0">
              <a:prstClr val="black">
                <a:alpha val="12000"/>
              </a:prstClr>
            </a:outerShdw>
          </a:effectLst>
        </p:spPr>
        <p:txBody>
          <a:bodyPr rtlCol="0" anchor="ctr"/>
          <a:lstStyle/>
          <a:p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52"/>
          <p:cNvSpPr/>
          <p:nvPr>
            <p:custDataLst>
              <p:tags r:id="rId7"/>
            </p:custDataLst>
          </p:nvPr>
        </p:nvSpPr>
        <p:spPr>
          <a:xfrm>
            <a:off x="8916440" y="1600237"/>
            <a:ext cx="1744520" cy="695947"/>
          </a:xfrm>
          <a:custGeom>
            <a:avLst/>
            <a:gdLst>
              <a:gd name="connsiteX0" fmla="*/ 84191 w 1884885"/>
              <a:gd name="connsiteY0" fmla="*/ 0 h 740467"/>
              <a:gd name="connsiteX1" fmla="*/ 267510 w 1884885"/>
              <a:gd name="connsiteY1" fmla="*/ 0 h 740467"/>
              <a:gd name="connsiteX2" fmla="*/ 267510 w 1884885"/>
              <a:gd name="connsiteY2" fmla="*/ 206595 h 740467"/>
              <a:gd name="connsiteX3" fmla="*/ 1617373 w 1884885"/>
              <a:gd name="connsiteY3" fmla="*/ 206595 h 740467"/>
              <a:gd name="connsiteX4" fmla="*/ 1617373 w 1884885"/>
              <a:gd name="connsiteY4" fmla="*/ 0 h 740467"/>
              <a:gd name="connsiteX5" fmla="*/ 1800694 w 1884885"/>
              <a:gd name="connsiteY5" fmla="*/ 0 h 740467"/>
              <a:gd name="connsiteX6" fmla="*/ 1884885 w 1884885"/>
              <a:gd name="connsiteY6" fmla="*/ 84191 h 740467"/>
              <a:gd name="connsiteX7" fmla="*/ 1884885 w 1884885"/>
              <a:gd name="connsiteY7" fmla="*/ 656276 h 740467"/>
              <a:gd name="connsiteX8" fmla="*/ 1800694 w 1884885"/>
              <a:gd name="connsiteY8" fmla="*/ 740467 h 740467"/>
              <a:gd name="connsiteX9" fmla="*/ 84191 w 1884885"/>
              <a:gd name="connsiteY9" fmla="*/ 740467 h 740467"/>
              <a:gd name="connsiteX10" fmla="*/ 0 w 1884885"/>
              <a:gd name="connsiteY10" fmla="*/ 656276 h 740467"/>
              <a:gd name="connsiteX11" fmla="*/ 0 w 1884885"/>
              <a:gd name="connsiteY11" fmla="*/ 84191 h 740467"/>
              <a:gd name="connsiteX12" fmla="*/ 84191 w 1884885"/>
              <a:gd name="connsiteY12" fmla="*/ 0 h 74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4885" h="740467">
                <a:moveTo>
                  <a:pt x="84191" y="0"/>
                </a:moveTo>
                <a:lnTo>
                  <a:pt x="267510" y="0"/>
                </a:lnTo>
                <a:lnTo>
                  <a:pt x="267510" y="206595"/>
                </a:lnTo>
                <a:lnTo>
                  <a:pt x="1617373" y="206595"/>
                </a:lnTo>
                <a:lnTo>
                  <a:pt x="1617373" y="0"/>
                </a:lnTo>
                <a:lnTo>
                  <a:pt x="1800694" y="0"/>
                </a:lnTo>
                <a:cubicBezTo>
                  <a:pt x="1847191" y="0"/>
                  <a:pt x="1884885" y="37694"/>
                  <a:pt x="1884885" y="84191"/>
                </a:cubicBezTo>
                <a:lnTo>
                  <a:pt x="1884885" y="656276"/>
                </a:lnTo>
                <a:cubicBezTo>
                  <a:pt x="1884885" y="702773"/>
                  <a:pt x="1847191" y="740467"/>
                  <a:pt x="1800694" y="740467"/>
                </a:cubicBezTo>
                <a:lnTo>
                  <a:pt x="84191" y="740467"/>
                </a:lnTo>
                <a:cubicBezTo>
                  <a:pt x="37694" y="740467"/>
                  <a:pt x="0" y="702773"/>
                  <a:pt x="0" y="656276"/>
                </a:cubicBezTo>
                <a:lnTo>
                  <a:pt x="0" y="84191"/>
                </a:lnTo>
                <a:cubicBezTo>
                  <a:pt x="0" y="37694"/>
                  <a:pt x="37694" y="0"/>
                  <a:pt x="84191" y="0"/>
                </a:cubicBez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>
            <a:outerShdw blurRad="165100" sx="102000" sy="102000" algn="ctr" rotWithShape="0">
              <a:schemeClr val="dk2">
                <a:alpha val="26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en-US" sz="1865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</a:t>
            </a:r>
            <a:r>
              <a:rPr sz="1865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物联网模块</a:t>
            </a:r>
            <a:endParaRPr lang="zh-CN" altLang="en-US" sz="1865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3"/>
          <p:cNvSpPr txBox="1"/>
          <p:nvPr/>
        </p:nvSpPr>
        <p:spPr>
          <a:xfrm>
            <a:off x="4920654" y="2514010"/>
            <a:ext cx="3044242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专注北美移动运营商</a:t>
            </a:r>
            <a:r>
              <a:rPr sz="1600" spc="-6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AT&amp;T</a:t>
            </a:r>
            <a:r>
              <a:rPr lang="zh-CN" altLang="en-US" sz="1600" spc="-6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600" spc="-13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Sprint</a:t>
            </a:r>
            <a:r>
              <a:rPr lang="en-US"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1600" spc="-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Verizon</a:t>
            </a:r>
            <a:r>
              <a:rPr lang="en-US" sz="1600" spc="-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1600" spc="-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T-Mobile</a:t>
            </a:r>
            <a:r>
              <a:rPr lang="en-US" sz="1600" spc="-2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1600" spc="-13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TracFone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产品定制市场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，以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移动通信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(4G/5G)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技术为基础，为企业客户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开发移动通讯终端软件和产品       </a:t>
            </a:r>
          </a:p>
        </p:txBody>
      </p:sp>
      <p:sp>
        <p:nvSpPr>
          <p:cNvPr id="39" name="文本框 32"/>
          <p:cNvSpPr txBox="1"/>
          <p:nvPr/>
        </p:nvSpPr>
        <p:spPr>
          <a:xfrm>
            <a:off x="1340711" y="2514010"/>
            <a:ext cx="3044242" cy="16087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与北美</a:t>
            </a:r>
            <a:r>
              <a:rPr lang="en-US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ivongo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OBMedical</a:t>
            </a:r>
            <a:r>
              <a:rPr lang="en-US" sz="1600" spc="-13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DEKA, 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以色列</a:t>
            </a:r>
            <a:r>
              <a:rPr sz="1600" spc="-13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PillTracker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Inc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等公司合作，以便携式的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sz="1600" spc="22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FDA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认证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智能移动医疗器械和服务系统为方向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发医疗智能终端软件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和产品</a:t>
            </a:r>
            <a:r>
              <a:rPr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1865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865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</a:p>
        </p:txBody>
      </p:sp>
      <p:sp>
        <p:nvSpPr>
          <p:cNvPr id="40" name="文本框 34"/>
          <p:cNvSpPr txBox="1"/>
          <p:nvPr/>
        </p:nvSpPr>
        <p:spPr>
          <a:xfrm>
            <a:off x="8592525" y="2514009"/>
            <a:ext cx="2725793" cy="1567737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  Sub-6GHz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频段和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毫米波</a:t>
            </a:r>
            <a:r>
              <a:rPr sz="1600" spc="-13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(mmWave)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频段方面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进行深度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技术开发，与美国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</a:t>
            </a:r>
            <a:r>
              <a:rPr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通研究院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联合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Qualcomm</a:t>
            </a:r>
            <a:r>
              <a:rPr sz="1600" spc="-33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spc="-7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SIP</a:t>
            </a:r>
            <a:r>
              <a:rPr sz="1600" spc="-8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</a:t>
            </a:r>
            <a:r>
              <a:rPr sz="1600" spc="-7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sz="16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支持国内国外双循环业务     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0654" y="4646697"/>
            <a:ext cx="2853235" cy="919526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4384" y="4762547"/>
            <a:ext cx="778988" cy="91952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4773" y="5626855"/>
            <a:ext cx="1889082" cy="51682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711" y="6320375"/>
            <a:ext cx="1771107" cy="39261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4384" y="5885268"/>
            <a:ext cx="778988" cy="8210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0712" y="4762548"/>
            <a:ext cx="1627453" cy="49130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4931" y="4787153"/>
            <a:ext cx="943385" cy="93340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22422" y="5867699"/>
            <a:ext cx="1383075" cy="5519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7408E8F-1A91-526D-EC18-5976EF4828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7562" y="4787153"/>
            <a:ext cx="868958" cy="9248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12A0911-B9DE-B5B8-AB5B-E13A2965DC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64931" y="5855302"/>
            <a:ext cx="1535525" cy="56202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85B7E0BD-8735-17F3-9DEF-BD651A5EF61C}"/>
              </a:ext>
            </a:extLst>
          </p:cNvPr>
          <p:cNvSpPr txBox="1">
            <a:spLocks/>
          </p:cNvSpPr>
          <p:nvPr/>
        </p:nvSpPr>
        <p:spPr>
          <a:xfrm>
            <a:off x="887771" y="145994"/>
            <a:ext cx="10729192" cy="86409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惠州源医企业基本情况 </a:t>
            </a:r>
            <a:r>
              <a:rPr lang="en-US" altLang="zh-CN" dirty="0">
                <a:solidFill>
                  <a:schemeClr val="bg1"/>
                </a:solidFill>
              </a:rPr>
              <a:t>– </a:t>
            </a:r>
            <a:r>
              <a:rPr lang="zh-CN" altLang="en-US" dirty="0">
                <a:solidFill>
                  <a:schemeClr val="bg1"/>
                </a:solidFill>
              </a:rPr>
              <a:t>产品布局及策略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AF4EC9-4DA2-B99D-CA8F-2F4603165C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2806" y="5682073"/>
            <a:ext cx="1237228" cy="8633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BB6A22-6312-BA86-43CC-D1C12AC1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F868D58-DF7E-2BED-1855-4ACC7D6B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5G</a:t>
            </a:r>
            <a:r>
              <a:rPr lang="zh-CN" altLang="en-US" dirty="0">
                <a:ea typeface="Microsoft YaHei UI" panose="020B0503020204020204" pitchFamily="34" charset="-122"/>
              </a:rPr>
              <a:t>企业客户</a:t>
            </a:r>
            <a:r>
              <a:rPr lang="zh-CN" altLang="en-US" dirty="0">
                <a:sym typeface="+mn-ea"/>
              </a:rPr>
              <a:t>智能手机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CECA2387-A361-A78F-C954-2FD4EDFB44D2}"/>
              </a:ext>
            </a:extLst>
          </p:cNvPr>
          <p:cNvSpPr txBox="1"/>
          <p:nvPr/>
        </p:nvSpPr>
        <p:spPr>
          <a:xfrm>
            <a:off x="479376" y="1895572"/>
            <a:ext cx="7056784" cy="48419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dirty="0"/>
              <a:t>6.67</a:t>
            </a:r>
            <a:r>
              <a:rPr lang="zh-CN" altLang="en-US" dirty="0"/>
              <a:t>英寸主显示屏</a:t>
            </a:r>
            <a:r>
              <a:rPr lang="en-US" altLang="zh-CN" dirty="0"/>
              <a:t> FHD+ OLED</a:t>
            </a:r>
            <a:r>
              <a:rPr lang="zh-CN" altLang="en-US" dirty="0"/>
              <a:t>高清分辨率，</a:t>
            </a:r>
          </a:p>
          <a:p>
            <a:pPr lvl="1"/>
            <a:r>
              <a:rPr lang="zh-CN" altLang="en-US" dirty="0"/>
              <a:t>内存</a:t>
            </a:r>
            <a:r>
              <a:rPr lang="en-US" altLang="zh-CN" dirty="0"/>
              <a:t>8GB+256GB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网络支持</a:t>
            </a:r>
            <a:r>
              <a:rPr lang="en-US" altLang="zh-CN" dirty="0"/>
              <a:t> 2G/3G/4G/5G sub6&amp;mmW</a:t>
            </a:r>
          </a:p>
          <a:p>
            <a:pPr lvl="1"/>
            <a:r>
              <a:rPr lang="en-US" altLang="zh-CN" dirty="0"/>
              <a:t>2.4G/5GHz WIFI</a:t>
            </a:r>
          </a:p>
          <a:p>
            <a:pPr lvl="1"/>
            <a:r>
              <a:rPr lang="zh-CN" altLang="en-US" dirty="0"/>
              <a:t>高清摄像头</a:t>
            </a:r>
            <a:r>
              <a:rPr lang="en-US" altLang="zh-CN" dirty="0"/>
              <a:t> </a:t>
            </a:r>
            <a:r>
              <a:rPr lang="zh-CN" altLang="en-US" dirty="0"/>
              <a:t>前摄</a:t>
            </a:r>
            <a:r>
              <a:rPr lang="en-US" altLang="zh-CN" dirty="0"/>
              <a:t>16MP</a:t>
            </a:r>
            <a:r>
              <a:rPr lang="zh-CN" altLang="en-US" dirty="0"/>
              <a:t>像素</a:t>
            </a:r>
            <a:r>
              <a:rPr lang="en-US" altLang="zh-CN" dirty="0"/>
              <a:t>/</a:t>
            </a:r>
            <a:r>
              <a:rPr lang="zh-CN" altLang="en-US" dirty="0"/>
              <a:t>后三摄</a:t>
            </a:r>
            <a:r>
              <a:rPr lang="en-US" altLang="zh-CN" dirty="0"/>
              <a:t>108MP+8MP+2MP</a:t>
            </a:r>
            <a:r>
              <a:rPr lang="zh-CN" altLang="en-US" dirty="0"/>
              <a:t>像素</a:t>
            </a:r>
          </a:p>
          <a:p>
            <a:pPr lvl="1"/>
            <a:r>
              <a:rPr lang="zh-CN" altLang="en-US" dirty="0"/>
              <a:t>大容量电池</a:t>
            </a:r>
            <a:r>
              <a:rPr lang="en-US" altLang="zh-CN" dirty="0"/>
              <a:t> 5000mAh</a:t>
            </a:r>
          </a:p>
          <a:p>
            <a:pPr lvl="1"/>
            <a:r>
              <a:rPr lang="zh-CN" altLang="en-US" dirty="0"/>
              <a:t>智能操作系统</a:t>
            </a:r>
            <a:r>
              <a:rPr lang="en-US" altLang="zh-CN" dirty="0"/>
              <a:t>(</a:t>
            </a:r>
            <a:r>
              <a:rPr lang="zh-CN" altLang="en-US" dirty="0"/>
              <a:t>安卓系统</a:t>
            </a:r>
            <a:r>
              <a:rPr lang="en-US" altLang="zh-CN" dirty="0"/>
              <a:t>), </a:t>
            </a:r>
            <a:r>
              <a:rPr lang="zh-CN" altLang="en-US" dirty="0"/>
              <a:t>空中升级协议</a:t>
            </a:r>
          </a:p>
          <a:p>
            <a:pPr lvl="1"/>
            <a:r>
              <a:rPr lang="en-US" altLang="zh-CN" dirty="0"/>
              <a:t>AI </a:t>
            </a:r>
            <a:r>
              <a:rPr lang="zh-CN" altLang="en-US" dirty="0"/>
              <a:t>智能算法及应用</a:t>
            </a:r>
          </a:p>
          <a:p>
            <a:pPr lvl="1"/>
            <a:r>
              <a:rPr lang="zh-CN" altLang="en-US" dirty="0"/>
              <a:t>北美运营商网络认证</a:t>
            </a:r>
            <a:endParaRPr lang="en-US" altLang="zh-CN" dirty="0"/>
          </a:p>
          <a:p>
            <a:pPr lvl="1"/>
            <a:r>
              <a:rPr lang="zh-CN" altLang="en-US" dirty="0"/>
              <a:t>谷歌</a:t>
            </a:r>
            <a:r>
              <a:rPr lang="en-US" altLang="zh-CN" dirty="0"/>
              <a:t>EDLA</a:t>
            </a:r>
            <a:r>
              <a:rPr lang="zh-CN" altLang="en-US" dirty="0"/>
              <a:t>企业产品认证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2B25F6B-B87B-0DAD-3B0E-8E056F0F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8" y="1916832"/>
            <a:ext cx="2880320" cy="457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AAB69B-CBC1-DFED-1246-969F2880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ECD529B-48C7-F0E1-B0ED-087719A2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5G</a:t>
            </a:r>
            <a:r>
              <a:rPr lang="zh-CN" altLang="en-US" dirty="0">
                <a:ea typeface="Microsoft YaHei UI" panose="020B0503020204020204" pitchFamily="34" charset="-122"/>
              </a:rPr>
              <a:t>企业客户</a:t>
            </a:r>
            <a:r>
              <a:rPr lang="zh-CN" altLang="en-US" dirty="0">
                <a:sym typeface="+mn-ea"/>
              </a:rPr>
              <a:t>智能平板电脑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FA889992-2AAE-5D0F-837A-080F820D833D}"/>
              </a:ext>
            </a:extLst>
          </p:cNvPr>
          <p:cNvSpPr txBox="1"/>
          <p:nvPr/>
        </p:nvSpPr>
        <p:spPr>
          <a:xfrm>
            <a:off x="407368" y="1916832"/>
            <a:ext cx="7056784" cy="48419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dirty="0"/>
              <a:t>10.95</a:t>
            </a:r>
            <a:r>
              <a:rPr lang="zh-CN" altLang="en-US" dirty="0"/>
              <a:t>英寸主显示屏</a:t>
            </a:r>
            <a:r>
              <a:rPr lang="en-US" altLang="zh-CN" dirty="0"/>
              <a:t> FHD</a:t>
            </a:r>
            <a:r>
              <a:rPr lang="zh-CN" altLang="en-US" dirty="0"/>
              <a:t>高清分辨率，</a:t>
            </a:r>
          </a:p>
          <a:p>
            <a:pPr lvl="1"/>
            <a:r>
              <a:rPr lang="zh-CN" altLang="en-US" dirty="0"/>
              <a:t>内存</a:t>
            </a:r>
            <a:r>
              <a:rPr lang="en-US" altLang="zh-CN" dirty="0"/>
              <a:t>8GB+256GB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网络支持</a:t>
            </a:r>
            <a:r>
              <a:rPr lang="en-US" altLang="zh-CN" dirty="0"/>
              <a:t> 2G/3G/4G/5G sub6/</a:t>
            </a:r>
            <a:r>
              <a:rPr lang="en-US" altLang="zh-CN" dirty="0" err="1"/>
              <a:t>mmWave</a:t>
            </a:r>
            <a:endParaRPr lang="en-US" altLang="zh-CN" dirty="0"/>
          </a:p>
          <a:p>
            <a:pPr lvl="1"/>
            <a:r>
              <a:rPr lang="en-US" altLang="zh-CN" dirty="0"/>
              <a:t>2.4/5GHz/6GHz WIFI</a:t>
            </a:r>
          </a:p>
          <a:p>
            <a:pPr lvl="1"/>
            <a:r>
              <a:rPr lang="zh-CN" altLang="en-US" dirty="0"/>
              <a:t>高清摄像头</a:t>
            </a:r>
            <a:r>
              <a:rPr lang="en-US" altLang="zh-CN" dirty="0"/>
              <a:t> </a:t>
            </a:r>
            <a:r>
              <a:rPr lang="zh-CN" altLang="en-US" dirty="0"/>
              <a:t>前摄</a:t>
            </a:r>
            <a:r>
              <a:rPr lang="en-US" altLang="zh-CN" dirty="0"/>
              <a:t>32M</a:t>
            </a:r>
            <a:r>
              <a:rPr lang="zh-CN" altLang="en-US" dirty="0"/>
              <a:t>像素</a:t>
            </a:r>
            <a:r>
              <a:rPr lang="en-US" altLang="zh-CN" dirty="0"/>
              <a:t>/</a:t>
            </a:r>
            <a:r>
              <a:rPr lang="zh-CN" altLang="en-US" dirty="0"/>
              <a:t>后摄</a:t>
            </a:r>
            <a:r>
              <a:rPr lang="en-US" altLang="zh-CN" dirty="0"/>
              <a:t>50M+8M+2M</a:t>
            </a:r>
            <a:r>
              <a:rPr lang="zh-CN" altLang="en-US" dirty="0"/>
              <a:t>像素</a:t>
            </a:r>
          </a:p>
          <a:p>
            <a:pPr lvl="1"/>
            <a:r>
              <a:rPr lang="zh-CN" altLang="en-US" dirty="0"/>
              <a:t>大容量电池</a:t>
            </a:r>
            <a:r>
              <a:rPr lang="en-US" altLang="zh-CN" dirty="0"/>
              <a:t> 10000mAh</a:t>
            </a:r>
          </a:p>
          <a:p>
            <a:pPr lvl="1"/>
            <a:r>
              <a:rPr lang="zh-CN" altLang="en-US" dirty="0"/>
              <a:t>智能操作系统</a:t>
            </a:r>
            <a:r>
              <a:rPr lang="en-US" altLang="zh-CN" dirty="0"/>
              <a:t>(</a:t>
            </a:r>
            <a:r>
              <a:rPr lang="zh-CN" altLang="en-US" dirty="0"/>
              <a:t>安卓系统</a:t>
            </a:r>
            <a:r>
              <a:rPr lang="en-US" altLang="zh-CN" dirty="0"/>
              <a:t>), </a:t>
            </a:r>
            <a:r>
              <a:rPr lang="zh-CN" altLang="en-US" dirty="0"/>
              <a:t>空中升级协议</a:t>
            </a:r>
          </a:p>
          <a:p>
            <a:pPr lvl="1"/>
            <a:r>
              <a:rPr lang="en-US" altLang="zh-CN" dirty="0"/>
              <a:t>AI </a:t>
            </a:r>
            <a:r>
              <a:rPr lang="zh-CN" altLang="en-US" dirty="0"/>
              <a:t>智能算法及应用</a:t>
            </a:r>
          </a:p>
          <a:p>
            <a:pPr lvl="1"/>
            <a:r>
              <a:rPr lang="zh-CN" altLang="en-US" dirty="0"/>
              <a:t>北美运营商网络认证</a:t>
            </a:r>
            <a:endParaRPr lang="en-US" altLang="zh-CN" dirty="0"/>
          </a:p>
          <a:p>
            <a:pPr lvl="1"/>
            <a:r>
              <a:rPr lang="zh-CN" altLang="en-US" dirty="0"/>
              <a:t>谷歌</a:t>
            </a:r>
            <a:r>
              <a:rPr lang="en-US" altLang="zh-CN" dirty="0"/>
              <a:t>EDLA</a:t>
            </a:r>
            <a:r>
              <a:rPr lang="zh-CN" altLang="en-US" dirty="0"/>
              <a:t>企业产品认证</a:t>
            </a:r>
          </a:p>
          <a:p>
            <a:pPr lvl="1"/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CB62FAB-EFDF-9BA0-D956-178E59175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2429817"/>
            <a:ext cx="55245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401A8E-2198-B5E7-C39F-90EBCC64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8D7EE0E-5263-8655-F35A-88FFB38D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5G</a:t>
            </a:r>
            <a:r>
              <a:rPr lang="zh-CN" altLang="en-US" dirty="0"/>
              <a:t>企业客户</a:t>
            </a:r>
            <a:r>
              <a:rPr lang="zh-CN" altLang="en-US" dirty="0">
                <a:sym typeface="+mn-ea"/>
              </a:rPr>
              <a:t>翻盖手机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2FDB643-C9C1-89F4-C354-9F2A8B599E4F}"/>
              </a:ext>
            </a:extLst>
          </p:cNvPr>
          <p:cNvSpPr txBox="1"/>
          <p:nvPr/>
        </p:nvSpPr>
        <p:spPr>
          <a:xfrm>
            <a:off x="407368" y="1916832"/>
            <a:ext cx="7128792" cy="48419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2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dirty="0"/>
              <a:t>4</a:t>
            </a:r>
            <a:r>
              <a:rPr lang="zh-CN" altLang="en-US" dirty="0"/>
              <a:t>英寸主显示屏</a:t>
            </a:r>
            <a:r>
              <a:rPr lang="en-US" altLang="zh-CN" dirty="0"/>
              <a:t>+1.77” </a:t>
            </a:r>
            <a:r>
              <a:rPr lang="zh-CN" altLang="en-US" dirty="0"/>
              <a:t>副屏，</a:t>
            </a:r>
          </a:p>
          <a:p>
            <a:pPr lvl="1"/>
            <a:r>
              <a:rPr lang="zh-CN" altLang="en-US" dirty="0"/>
              <a:t>内存</a:t>
            </a:r>
            <a:r>
              <a:rPr lang="en-US" altLang="zh-CN" dirty="0"/>
              <a:t>6GB+64GB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网络支持</a:t>
            </a:r>
            <a:r>
              <a:rPr lang="en-US" altLang="zh-CN" dirty="0"/>
              <a:t> 2G/3G/4G/5G sub6</a:t>
            </a:r>
          </a:p>
          <a:p>
            <a:pPr lvl="1"/>
            <a:r>
              <a:rPr lang="en-US" altLang="zh-CN" dirty="0"/>
              <a:t>2.4/5GHz WIFI</a:t>
            </a:r>
          </a:p>
          <a:p>
            <a:pPr lvl="1"/>
            <a:r>
              <a:rPr lang="zh-CN" altLang="en-US" dirty="0"/>
              <a:t>高清摄像头</a:t>
            </a:r>
            <a:r>
              <a:rPr lang="en-US" altLang="zh-CN" dirty="0"/>
              <a:t>8MP</a:t>
            </a:r>
            <a:r>
              <a:rPr lang="zh-CN" altLang="en-US" dirty="0"/>
              <a:t>像素</a:t>
            </a:r>
          </a:p>
          <a:p>
            <a:pPr lvl="1"/>
            <a:r>
              <a:rPr lang="zh-CN" altLang="en-US" dirty="0"/>
              <a:t>电池</a:t>
            </a:r>
            <a:r>
              <a:rPr lang="en-US" altLang="zh-CN" dirty="0"/>
              <a:t> 3000mAh</a:t>
            </a:r>
          </a:p>
          <a:p>
            <a:pPr lvl="1"/>
            <a:r>
              <a:rPr lang="zh-CN" altLang="en-US" dirty="0"/>
              <a:t>智能操作系统</a:t>
            </a:r>
            <a:r>
              <a:rPr lang="en-US" altLang="zh-CN" dirty="0"/>
              <a:t>(</a:t>
            </a:r>
            <a:r>
              <a:rPr lang="zh-CN" altLang="en-US" dirty="0"/>
              <a:t>安卓系统</a:t>
            </a:r>
            <a:r>
              <a:rPr lang="en-US" altLang="zh-CN" dirty="0"/>
              <a:t>), </a:t>
            </a:r>
            <a:r>
              <a:rPr lang="zh-CN" altLang="en-US" dirty="0"/>
              <a:t>空中升级协议</a:t>
            </a:r>
          </a:p>
          <a:p>
            <a:pPr lvl="1"/>
            <a:r>
              <a:rPr lang="en-US" altLang="zh-CN" dirty="0"/>
              <a:t>AI </a:t>
            </a:r>
            <a:r>
              <a:rPr lang="zh-CN" altLang="en-US" dirty="0"/>
              <a:t>代理智能算法及应用</a:t>
            </a:r>
          </a:p>
          <a:p>
            <a:pPr lvl="1"/>
            <a:r>
              <a:rPr lang="zh-CN" altLang="en-US" dirty="0"/>
              <a:t>北美运营商网络认证</a:t>
            </a:r>
            <a:endParaRPr lang="en-US" altLang="zh-CN" dirty="0"/>
          </a:p>
          <a:p>
            <a:pPr lvl="1"/>
            <a:r>
              <a:rPr lang="zh-CN" altLang="en-US" dirty="0"/>
              <a:t>谷歌</a:t>
            </a:r>
            <a:r>
              <a:rPr lang="en-US" altLang="zh-CN" dirty="0"/>
              <a:t>EDLA</a:t>
            </a:r>
            <a:r>
              <a:rPr lang="zh-CN" altLang="en-US" dirty="0"/>
              <a:t>产品认证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防整机设计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BF90AF9-DEAA-32AB-2DEB-03ACCB12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224" y="1577831"/>
            <a:ext cx="3456384" cy="479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公司产品</a:t>
            </a:r>
            <a:r>
              <a:rPr lang="en-US" altLang="zh-CN" dirty="0"/>
              <a:t> - 5G </a:t>
            </a:r>
            <a:r>
              <a:rPr lang="zh-CN" altLang="en-US" dirty="0"/>
              <a:t>企业客户</a:t>
            </a:r>
            <a:r>
              <a:rPr lang="en-US" altLang="zh-CN" dirty="0"/>
              <a:t>MiFi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2FB274-259B-3F58-7AA7-89FE0F13E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2636912"/>
            <a:ext cx="4143375" cy="2466975"/>
          </a:xfrm>
          <a:prstGeom prst="rect">
            <a:avLst/>
          </a:prstGeom>
        </p:spPr>
      </p:pic>
      <p:sp>
        <p:nvSpPr>
          <p:cNvPr id="4" name="文本框 7">
            <a:extLst>
              <a:ext uri="{FF2B5EF4-FFF2-40B4-BE49-F238E27FC236}">
                <a16:creationId xmlns:a16="http://schemas.microsoft.com/office/drawing/2014/main" xmlns="" id="{C3372BBE-8A67-95D3-18C8-24F1D5A566BB}"/>
              </a:ext>
            </a:extLst>
          </p:cNvPr>
          <p:cNvSpPr txBox="1"/>
          <p:nvPr/>
        </p:nvSpPr>
        <p:spPr>
          <a:xfrm>
            <a:off x="407368" y="1916832"/>
            <a:ext cx="6336704" cy="3960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2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dirty="0"/>
              <a:t>1.44</a:t>
            </a:r>
            <a:r>
              <a:rPr lang="zh-CN" altLang="en-US" dirty="0"/>
              <a:t>“屏幕显示，</a:t>
            </a:r>
          </a:p>
          <a:p>
            <a:pPr lvl="1"/>
            <a:r>
              <a:rPr lang="zh-CN" altLang="en-US" dirty="0"/>
              <a:t>网络支持</a:t>
            </a:r>
            <a:r>
              <a:rPr lang="en-US" altLang="zh-CN" dirty="0"/>
              <a:t> 2G/3G/4G/5G sub6/</a:t>
            </a:r>
            <a:r>
              <a:rPr lang="en-US" altLang="zh-CN" dirty="0" err="1"/>
              <a:t>mmWave</a:t>
            </a:r>
            <a:endParaRPr lang="en-US" altLang="zh-CN" dirty="0"/>
          </a:p>
          <a:p>
            <a:pPr lvl="1"/>
            <a:r>
              <a:rPr lang="en-US" altLang="zh-CN" dirty="0"/>
              <a:t>2.4/5GHz/6GHz WIFI</a:t>
            </a:r>
          </a:p>
          <a:p>
            <a:pPr lvl="1"/>
            <a:r>
              <a:rPr lang="zh-CN" altLang="en-US" dirty="0"/>
              <a:t>设备内置用户界面</a:t>
            </a:r>
            <a:r>
              <a:rPr lang="en-US" altLang="zh-CN" dirty="0"/>
              <a:t>+Web UI</a:t>
            </a:r>
            <a:endParaRPr lang="zh-CN" altLang="en-US" dirty="0"/>
          </a:p>
          <a:p>
            <a:pPr lvl="1"/>
            <a:r>
              <a:rPr lang="zh-CN" altLang="en-US" dirty="0"/>
              <a:t>电池</a:t>
            </a:r>
            <a:r>
              <a:rPr lang="en-US" altLang="zh-CN" dirty="0"/>
              <a:t> 5000mAh</a:t>
            </a:r>
          </a:p>
          <a:p>
            <a:pPr lvl="1"/>
            <a:r>
              <a:rPr lang="en-US" altLang="zh-CN" dirty="0" err="1"/>
              <a:t>OpenWRT</a:t>
            </a:r>
            <a:r>
              <a:rPr lang="zh-CN" altLang="en-US" dirty="0"/>
              <a:t>系统</a:t>
            </a:r>
            <a:r>
              <a:rPr lang="en-US" altLang="zh-CN" dirty="0"/>
              <a:t>+</a:t>
            </a:r>
            <a:r>
              <a:rPr lang="zh-CN" altLang="en-US" dirty="0"/>
              <a:t>空中升级协议</a:t>
            </a:r>
          </a:p>
          <a:p>
            <a:pPr lvl="1"/>
            <a:r>
              <a:rPr lang="en-US" altLang="zh-CN" dirty="0"/>
              <a:t>AI </a:t>
            </a:r>
            <a:r>
              <a:rPr lang="zh-CN" altLang="en-US" dirty="0"/>
              <a:t>代理智能算法及应用</a:t>
            </a:r>
          </a:p>
          <a:p>
            <a:pPr lvl="1"/>
            <a:r>
              <a:rPr lang="zh-CN" altLang="en-US" dirty="0"/>
              <a:t>北美运营商网络认证</a:t>
            </a:r>
            <a:endParaRPr lang="en-US" altLang="zh-CN" dirty="0"/>
          </a:p>
          <a:p>
            <a:pPr lvl="1"/>
            <a:r>
              <a:rPr lang="zh-CN" altLang="en-US" dirty="0"/>
              <a:t>企业客户批量授权管理</a:t>
            </a:r>
            <a:r>
              <a:rPr lang="en-US" altLang="zh-CN" dirty="0"/>
              <a:t>(MDM)</a:t>
            </a:r>
            <a:r>
              <a:rPr lang="zh-CN" altLang="en-US" dirty="0"/>
              <a:t>系统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</a:t>
            </a:r>
            <a:r>
              <a:rPr lang="zh-CN" altLang="en-US" dirty="0">
                <a:ea typeface="Microsoft YaHei UI" panose="020B0503020204020204" pitchFamily="34" charset="-122"/>
              </a:rPr>
              <a:t>儿童</a:t>
            </a:r>
            <a:r>
              <a:rPr lang="zh-CN" altLang="en-US" dirty="0">
                <a:sym typeface="+mn-ea"/>
              </a:rPr>
              <a:t>智能手表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7368" y="1916832"/>
            <a:ext cx="6912768" cy="475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dirty="0">
                <a:sym typeface="+mn-ea"/>
              </a:rPr>
              <a:t>1.8</a:t>
            </a:r>
            <a:r>
              <a:rPr lang="zh-CN" altLang="en-US" dirty="0">
                <a:sym typeface="+mn-ea"/>
              </a:rPr>
              <a:t>“ AMOLED高清大屏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/>
              <a:t>网络支持</a:t>
            </a:r>
            <a:r>
              <a:rPr lang="en-US" altLang="zh-CN" dirty="0"/>
              <a:t> 3G/4G</a:t>
            </a:r>
          </a:p>
          <a:p>
            <a:pPr lvl="1"/>
            <a:r>
              <a:rPr lang="en-US" altLang="zh-CN" dirty="0"/>
              <a:t>2.4/5GHz WIFI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/>
              <a:t>北美运营商网络认证</a:t>
            </a:r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体温监测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心率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血氧监测</a:t>
            </a:r>
            <a:endParaRPr lang="zh-CN" altLang="en-US" dirty="0"/>
          </a:p>
          <a:p>
            <a:pPr lvl="1"/>
            <a:r>
              <a:rPr lang="zh-CN" altLang="en-US" dirty="0"/>
              <a:t>语音唤醒</a:t>
            </a:r>
            <a:r>
              <a:rPr lang="en-US" altLang="zh-CN" dirty="0"/>
              <a:t>+AI</a:t>
            </a:r>
            <a:r>
              <a:rPr lang="zh-CN" altLang="en-US" dirty="0"/>
              <a:t>代理智能算法及应用</a:t>
            </a:r>
          </a:p>
          <a:p>
            <a:pPr lvl="1"/>
            <a:r>
              <a:rPr lang="zh-CN" altLang="en-US" dirty="0">
                <a:sym typeface="+mn-ea"/>
              </a:rPr>
              <a:t>快速急救求助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/>
              <a:t>企业客户批量授权管理</a:t>
            </a:r>
            <a:r>
              <a:rPr lang="en-US" altLang="zh-CN" dirty="0"/>
              <a:t>(MDM)</a:t>
            </a:r>
            <a:r>
              <a:rPr lang="zh-CN" altLang="en-US" dirty="0"/>
              <a:t>系统</a:t>
            </a:r>
          </a:p>
          <a:p>
            <a:pPr lvl="1"/>
            <a:r>
              <a:rPr lang="en-US" altLang="zh-CN" dirty="0">
                <a:sym typeface="+mn-ea"/>
              </a:rPr>
              <a:t>5ATM</a:t>
            </a:r>
            <a:r>
              <a:rPr lang="zh-CN" altLang="en-US" dirty="0">
                <a:sym typeface="+mn-ea"/>
              </a:rPr>
              <a:t>防水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505944-A30E-E6AF-F72D-4025180F2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1988840"/>
            <a:ext cx="4794185" cy="3816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</a:t>
            </a:r>
            <a:r>
              <a:rPr lang="zh-CN" altLang="en-US" dirty="0">
                <a:ea typeface="Microsoft YaHei UI" panose="020B0503020204020204" pitchFamily="34" charset="-122"/>
              </a:rPr>
              <a:t>第五代</a:t>
            </a:r>
            <a:r>
              <a:rPr lang="zh-CN" altLang="en-US" dirty="0"/>
              <a:t>智能移动血糖仪 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7368" y="1916832"/>
            <a:ext cx="7056784" cy="4464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sz="1800" dirty="0"/>
              <a:t>2G/3G/4G/5G </a:t>
            </a:r>
            <a:r>
              <a:rPr lang="zh-CN" altLang="en-US" sz="1800" dirty="0"/>
              <a:t>无线接口接入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</a:t>
            </a:r>
            <a:r>
              <a:rPr lang="zh-CN" altLang="en-US" sz="1800" dirty="0"/>
              <a:t>超高准确度血糖测试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</a:t>
            </a:r>
            <a:r>
              <a:rPr lang="zh-CN" altLang="en-US" sz="1800" dirty="0"/>
              <a:t>智能操作系统</a:t>
            </a:r>
            <a:r>
              <a:rPr lang="en-US" altLang="zh-CN" sz="1800" dirty="0"/>
              <a:t>(</a:t>
            </a:r>
            <a:r>
              <a:rPr lang="zh-CN" altLang="en-US" sz="1800" dirty="0"/>
              <a:t>安卓系统</a:t>
            </a:r>
            <a:r>
              <a:rPr lang="en-US" altLang="zh-CN" sz="1800" dirty="0"/>
              <a:t>), </a:t>
            </a:r>
            <a:r>
              <a:rPr lang="zh-CN" altLang="en-US" sz="1800" dirty="0"/>
              <a:t>空中升级协议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</a:t>
            </a:r>
            <a:r>
              <a:rPr lang="zh-CN" altLang="en-US" sz="1800" dirty="0"/>
              <a:t>北美运营商网络认证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FDA</a:t>
            </a:r>
            <a:r>
              <a:rPr lang="zh-CN" altLang="en-US" sz="1800" dirty="0"/>
              <a:t>严酷要求认证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AI </a:t>
            </a:r>
            <a:r>
              <a:rPr lang="zh-CN" altLang="en-US" sz="1800" dirty="0"/>
              <a:t>智能算法及应用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 集成</a:t>
            </a:r>
            <a:r>
              <a:rPr lang="en-US" altLang="zh-CN" sz="1800" dirty="0"/>
              <a:t>2D/3D</a:t>
            </a:r>
            <a:r>
              <a:rPr lang="zh-CN" altLang="en-US" sz="1800" dirty="0"/>
              <a:t>条码功能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/>
              <a:t> </a:t>
            </a:r>
            <a:r>
              <a:rPr lang="zh-CN" altLang="en-US" sz="1800" dirty="0"/>
              <a:t>移动互联网系统布局（云端</a:t>
            </a:r>
            <a:r>
              <a:rPr lang="en-US" altLang="zh-CN" sz="1800" dirty="0"/>
              <a:t>+</a:t>
            </a:r>
            <a:r>
              <a:rPr lang="zh-CN" altLang="en-US" sz="1800" dirty="0"/>
              <a:t>客户端）</a:t>
            </a:r>
            <a:endParaRPr lang="en-US" altLang="zh-CN" sz="1800" dirty="0"/>
          </a:p>
          <a:p>
            <a:pPr marL="228600" lvl="1" indent="0">
              <a:buNone/>
            </a:pPr>
            <a:endParaRPr lang="en-US" altLang="zh-C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64" y="2132855"/>
            <a:ext cx="3024336" cy="4059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B3222E-B7F4-7A81-BD32-0EE78249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0BA0BA3-1DE4-9213-35A1-DEF885B0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</a:t>
            </a:r>
            <a:r>
              <a:rPr lang="zh-CN" altLang="en-US" dirty="0">
                <a:ea typeface="Microsoft YaHei UI" panose="020B0503020204020204" pitchFamily="34" charset="-122"/>
              </a:rPr>
              <a:t>企业客户健康检测终端</a:t>
            </a:r>
            <a:r>
              <a:rPr lang="zh-CN" altLang="en-US" dirty="0"/>
              <a:t> 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4D207057-2C5E-CB5A-972F-914428E58E34}"/>
              </a:ext>
            </a:extLst>
          </p:cNvPr>
          <p:cNvSpPr txBox="1"/>
          <p:nvPr/>
        </p:nvSpPr>
        <p:spPr>
          <a:xfrm>
            <a:off x="407368" y="1916832"/>
            <a:ext cx="7056784" cy="4464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zh-CN" altLang="en-US" sz="2100" dirty="0"/>
              <a:t>低功耗蓝牙</a:t>
            </a:r>
            <a:r>
              <a:rPr lang="en-US" altLang="zh-CN" sz="2100" dirty="0"/>
              <a:t>BLE</a:t>
            </a:r>
            <a:r>
              <a:rPr lang="zh-CN" altLang="en-US" sz="2100" dirty="0"/>
              <a:t>数据传输</a:t>
            </a:r>
            <a:endParaRPr lang="en-US" altLang="zh-CN" sz="21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 </a:t>
            </a:r>
            <a:r>
              <a:rPr lang="zh-CN" altLang="en-US" sz="2000" dirty="0"/>
              <a:t>超高准确度</a:t>
            </a:r>
            <a:r>
              <a:rPr lang="zh-CN" altLang="en-US" dirty="0"/>
              <a:t>体温测试</a:t>
            </a:r>
            <a:endParaRPr lang="en-US" altLang="zh-CN" dirty="0"/>
          </a:p>
          <a:p>
            <a:pPr lvl="1"/>
            <a:r>
              <a:rPr lang="zh-CN" altLang="en-US" dirty="0"/>
              <a:t> 超高准确度心电</a:t>
            </a:r>
            <a:r>
              <a:rPr lang="en-US" altLang="zh-CN" dirty="0"/>
              <a:t>ECG</a:t>
            </a:r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zh-CN" altLang="en-US" dirty="0"/>
              <a:t> 超高准确度血压</a:t>
            </a:r>
            <a:r>
              <a:rPr lang="en-US" altLang="zh-CN" dirty="0"/>
              <a:t>SpO2</a:t>
            </a:r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en-US" altLang="zh-CN" sz="2000" dirty="0"/>
              <a:t> </a:t>
            </a:r>
            <a:r>
              <a:rPr lang="zh-CN" altLang="en-US" sz="2000" dirty="0"/>
              <a:t>近医疗级别血压</a:t>
            </a:r>
            <a:r>
              <a:rPr lang="en-US" altLang="zh-CN" sz="2000" dirty="0"/>
              <a:t>BP</a:t>
            </a:r>
            <a:r>
              <a:rPr lang="zh-CN" altLang="en-US" sz="2000" dirty="0"/>
              <a:t>测试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FDA</a:t>
            </a:r>
            <a:r>
              <a:rPr lang="zh-CN" altLang="en-US" sz="2000" dirty="0"/>
              <a:t>严酷要求认证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检测终端 </a:t>
            </a:r>
            <a:r>
              <a:rPr lang="en-US" altLang="zh-CN" sz="2000" dirty="0"/>
              <a:t>+APP</a:t>
            </a:r>
            <a:r>
              <a:rPr lang="zh-CN" altLang="en-US" sz="2000" dirty="0"/>
              <a:t>客户端（智能终端）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 AI </a:t>
            </a:r>
            <a:r>
              <a:rPr lang="zh-CN" altLang="en-US" sz="2000" dirty="0"/>
              <a:t>智能算法及应用</a:t>
            </a:r>
            <a:endParaRPr lang="en-US" altLang="zh-CN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移动互联网系统布局（云端</a:t>
            </a:r>
            <a:r>
              <a:rPr lang="en-US" altLang="zh-CN" sz="2000" dirty="0"/>
              <a:t>+</a:t>
            </a:r>
            <a:r>
              <a:rPr lang="zh-CN" altLang="en-US" sz="2000" dirty="0"/>
              <a:t>客户端）</a:t>
            </a:r>
            <a:endParaRPr lang="en-US" altLang="zh-CN" sz="2000" dirty="0"/>
          </a:p>
          <a:p>
            <a:pPr marL="228600" lvl="1" indent="0">
              <a:buNone/>
            </a:pP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FC77599-09DB-0E30-9E66-2A70A0B2F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2589448"/>
            <a:ext cx="4751437" cy="31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3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ea typeface="Microsoft YaHei UI" panose="020B0503020204020204" pitchFamily="34" charset="-122"/>
              </a:rPr>
              <a:t>公司产品 </a:t>
            </a:r>
            <a:r>
              <a:rPr lang="en-US" altLang="zh-CN" dirty="0">
                <a:ea typeface="Microsoft YaHei UI" panose="020B0503020204020204" pitchFamily="34" charset="-122"/>
              </a:rPr>
              <a:t>– </a:t>
            </a:r>
            <a:r>
              <a:rPr lang="zh-CN" altLang="en-US" dirty="0"/>
              <a:t>智能输液控制器</a:t>
            </a:r>
            <a:endParaRPr lang="zh-CN" altLang="en-US" dirty="0"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BAE1191B-F1B3-4A08-A33A-EAA73953FBAA}"/>
              </a:ext>
            </a:extLst>
          </p:cNvPr>
          <p:cNvSpPr txBox="1"/>
          <p:nvPr/>
        </p:nvSpPr>
        <p:spPr>
          <a:xfrm>
            <a:off x="407368" y="1916832"/>
            <a:ext cx="7056784" cy="484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 rtl="0">
              <a:defRPr lang="zh-CN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563">
              <a:lnSpc>
                <a:spcPct val="10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sz="1800" dirty="0"/>
              <a:t>Qualcomm</a:t>
            </a:r>
            <a:r>
              <a:rPr lang="zh-CN" altLang="en-US" sz="1800" dirty="0"/>
              <a:t>骁龙多核处理器</a:t>
            </a:r>
            <a:endParaRPr lang="en-US" altLang="zh-CN" sz="1800" dirty="0"/>
          </a:p>
          <a:p>
            <a:pPr lvl="1"/>
            <a:r>
              <a:rPr lang="en-US" altLang="zh-CN" sz="1800" dirty="0"/>
              <a:t>WIFI </a:t>
            </a:r>
            <a:r>
              <a:rPr lang="zh-CN" altLang="en-US" sz="1800" dirty="0"/>
              <a:t>接入和智能网关配置</a:t>
            </a:r>
            <a:endParaRPr lang="en-US" altLang="zh-CN" sz="1800" dirty="0"/>
          </a:p>
          <a:p>
            <a:pPr lvl="1"/>
            <a:r>
              <a:rPr lang="zh-CN" altLang="en-US" sz="1800" dirty="0"/>
              <a:t>智能操作系统（</a:t>
            </a:r>
            <a:r>
              <a:rPr lang="en-US" altLang="zh-CN" sz="1800" dirty="0"/>
              <a:t>Android OS), </a:t>
            </a:r>
            <a:r>
              <a:rPr lang="zh-CN" altLang="en-US" sz="1800" dirty="0"/>
              <a:t>空中升级协议</a:t>
            </a:r>
            <a:endParaRPr lang="en-US" altLang="zh-CN" sz="1800" dirty="0"/>
          </a:p>
          <a:p>
            <a:pPr lvl="1"/>
            <a:r>
              <a:rPr lang="zh-CN" altLang="en-US" sz="1800" dirty="0"/>
              <a:t>核心专利</a:t>
            </a:r>
            <a:r>
              <a:rPr lang="en-US" altLang="zh-CN" sz="1800" dirty="0"/>
              <a:t>:</a:t>
            </a:r>
            <a:r>
              <a:rPr lang="zh-CN" altLang="en-US" sz="1800" dirty="0"/>
              <a:t>摄像头液体滴速精准检测算法</a:t>
            </a:r>
            <a:endParaRPr lang="en-US" altLang="zh-CN" sz="1800" dirty="0"/>
          </a:p>
          <a:p>
            <a:pPr lvl="1"/>
            <a:r>
              <a:rPr lang="en-US" altLang="zh-CN" sz="1800" dirty="0"/>
              <a:t>FDA</a:t>
            </a:r>
            <a:r>
              <a:rPr lang="zh-CN" altLang="en-US" sz="1800" dirty="0"/>
              <a:t>认证</a:t>
            </a:r>
            <a:endParaRPr lang="en-US" altLang="zh-CN" sz="1800" dirty="0"/>
          </a:p>
          <a:p>
            <a:pPr lvl="1"/>
            <a:r>
              <a:rPr lang="zh-CN" altLang="en-US" sz="1800" dirty="0"/>
              <a:t>智能输液滴速控制，</a:t>
            </a:r>
            <a:r>
              <a:rPr lang="en-US" altLang="zh-CN" sz="1800" dirty="0"/>
              <a:t>10mL/</a:t>
            </a:r>
            <a:r>
              <a:rPr lang="zh-CN" altLang="en-US" sz="1800" dirty="0"/>
              <a:t>小时</a:t>
            </a:r>
            <a:r>
              <a:rPr lang="en-US" altLang="zh-CN" sz="1800" dirty="0"/>
              <a:t>~300mL/</a:t>
            </a:r>
            <a:r>
              <a:rPr lang="zh-CN" altLang="en-US" sz="1800" dirty="0"/>
              <a:t>小时</a:t>
            </a:r>
            <a:endParaRPr lang="en-US" altLang="zh-CN" sz="1800" dirty="0"/>
          </a:p>
          <a:p>
            <a:pPr lvl="1"/>
            <a:r>
              <a:rPr lang="zh-CN" altLang="en-US" sz="1800" dirty="0"/>
              <a:t>医护人员远程操作及监控</a:t>
            </a:r>
            <a:endParaRPr lang="en-US" altLang="zh-CN" sz="1800" dirty="0"/>
          </a:p>
          <a:p>
            <a:pPr lvl="1"/>
            <a:r>
              <a:rPr lang="zh-CN" altLang="en-US" sz="1800" dirty="0"/>
              <a:t>输液总量控制功能</a:t>
            </a:r>
            <a:endParaRPr lang="en-US" altLang="zh-CN" sz="1800" dirty="0"/>
          </a:p>
          <a:p>
            <a:pPr lvl="1"/>
            <a:r>
              <a:rPr lang="zh-CN" altLang="en-US" sz="1800" dirty="0"/>
              <a:t>输液防倒流功能</a:t>
            </a:r>
            <a:endParaRPr lang="en-US" altLang="zh-CN" sz="1800" dirty="0"/>
          </a:p>
          <a:p>
            <a:pPr lvl="1"/>
            <a:r>
              <a:rPr lang="zh-CN" altLang="en-US" sz="1800" dirty="0"/>
              <a:t>输液堵塞报警，</a:t>
            </a:r>
            <a:endParaRPr lang="en-US" altLang="zh-CN" sz="1800" dirty="0"/>
          </a:p>
          <a:p>
            <a:pPr marL="228600" lvl="1" indent="0">
              <a:buNone/>
            </a:pPr>
            <a:endParaRPr lang="en-US" altLang="zh-C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82F099B-C93C-4B9D-B065-7CB01537C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224" y="1677208"/>
            <a:ext cx="3096344" cy="51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2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7"/>
          <p:cNvSpPr txBox="1"/>
          <p:nvPr/>
        </p:nvSpPr>
        <p:spPr>
          <a:xfrm>
            <a:off x="407368" y="1916832"/>
            <a:ext cx="7056784" cy="4464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rtl="0">
              <a:defRPr lang="en-US"/>
            </a:defPPr>
            <a:lvl1pPr indent="0">
              <a:lnSpc>
                <a:spcPct val="100000"/>
              </a:lnSpc>
              <a:spcBef>
                <a:spcPts val="1800"/>
              </a:spcBef>
              <a:buSzPct val="100000"/>
              <a:buFont typeface="Arial" panose="020B0604020202020204" pitchFamily="34" charset="0"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lvl="1" indent="-228600">
              <a:lnSpc>
                <a:spcPct val="15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68580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6868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51560" indent="-18288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 marL="123444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41732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60020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83080" indent="-182880">
              <a:lnSpc>
                <a:spcPct val="900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▪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1"/>
            <a:r>
              <a:rPr lang="en-US" altLang="zh-CN" sz="1800" dirty="0"/>
              <a:t>Qualcomm</a:t>
            </a:r>
            <a:r>
              <a:rPr lang="zh-CN" altLang="en-US" sz="1800" dirty="0"/>
              <a:t> </a:t>
            </a:r>
            <a:r>
              <a:rPr lang="en-US" altLang="zh-CN" sz="1800" dirty="0"/>
              <a:t>SDX75</a:t>
            </a:r>
            <a:r>
              <a:rPr lang="zh-CN" altLang="en-US" sz="1800" dirty="0"/>
              <a:t> 芯片组</a:t>
            </a:r>
            <a:endParaRPr lang="en-US" altLang="zh-CN" sz="1800" dirty="0"/>
          </a:p>
          <a:p>
            <a:pPr lvl="1"/>
            <a:r>
              <a:rPr lang="en-US" altLang="zh-CN" sz="1800" dirty="0"/>
              <a:t> 3gpp R16, 5G NSA/SA</a:t>
            </a:r>
          </a:p>
          <a:p>
            <a:pPr lvl="1"/>
            <a:r>
              <a:rPr lang="en-US" altLang="zh-CN" sz="1800" dirty="0"/>
              <a:t> 5G FR1(Sub 6) </a:t>
            </a:r>
            <a:r>
              <a:rPr lang="zh-CN" altLang="en-US" sz="1800" dirty="0"/>
              <a:t>和</a:t>
            </a:r>
            <a:r>
              <a:rPr lang="en-US" altLang="zh-CN" sz="1800" dirty="0"/>
              <a:t>FR2(</a:t>
            </a:r>
            <a:r>
              <a:rPr lang="zh-CN" altLang="en-US" sz="1800" dirty="0"/>
              <a:t>毫米波</a:t>
            </a:r>
            <a:r>
              <a:rPr lang="en-US" altLang="zh-CN" sz="1800" dirty="0"/>
              <a:t>)</a:t>
            </a:r>
            <a:r>
              <a:rPr lang="zh-CN" altLang="en-US" sz="1800" dirty="0"/>
              <a:t>支持</a:t>
            </a:r>
            <a:endParaRPr lang="en-US" altLang="zh-CN" sz="1800" dirty="0"/>
          </a:p>
          <a:p>
            <a:pPr lvl="1"/>
            <a:r>
              <a:rPr lang="en-US" altLang="zh-CN" sz="1800" dirty="0"/>
              <a:t> </a:t>
            </a:r>
            <a:r>
              <a:rPr lang="zh-CN" altLang="en-US" sz="1800" dirty="0"/>
              <a:t>向下兼容</a:t>
            </a:r>
            <a:r>
              <a:rPr lang="en-US" altLang="zh-CN" sz="1800" dirty="0"/>
              <a:t>LTE CAT18</a:t>
            </a:r>
          </a:p>
          <a:p>
            <a:pPr lvl="1"/>
            <a:r>
              <a:rPr lang="zh-CN" altLang="en-US" sz="1800" dirty="0"/>
              <a:t> </a:t>
            </a:r>
            <a:r>
              <a:rPr lang="en-US" altLang="zh-CN" sz="1800" dirty="0"/>
              <a:t>GPS/</a:t>
            </a:r>
            <a:r>
              <a:rPr lang="en-US" altLang="zh-CN" sz="1800" dirty="0" err="1"/>
              <a:t>BeiDou</a:t>
            </a:r>
            <a:r>
              <a:rPr lang="zh-CN" altLang="en-US" sz="1800" dirty="0"/>
              <a:t>定位技术</a:t>
            </a:r>
            <a:endParaRPr lang="en-US" altLang="zh-CN" sz="1800" dirty="0"/>
          </a:p>
          <a:p>
            <a:pPr lvl="1"/>
            <a:r>
              <a:rPr lang="zh-CN" altLang="en-US" sz="1800" dirty="0"/>
              <a:t> </a:t>
            </a:r>
            <a:r>
              <a:rPr lang="en-US" altLang="zh-CN" sz="1800" dirty="0"/>
              <a:t>M.2</a:t>
            </a:r>
            <a:r>
              <a:rPr lang="zh-CN" altLang="en-US" sz="1800" dirty="0"/>
              <a:t>接口，高速信号传输</a:t>
            </a:r>
            <a:endParaRPr lang="en-US" altLang="zh-CN" sz="1800" dirty="0"/>
          </a:p>
          <a:p>
            <a:pPr lvl="1"/>
            <a:r>
              <a:rPr lang="zh-CN" altLang="en-US" sz="1800" dirty="0"/>
              <a:t> 全球运营商认证</a:t>
            </a:r>
            <a:endParaRPr lang="en-US" altLang="zh-CN" sz="1800" dirty="0"/>
          </a:p>
          <a:p>
            <a:pPr lvl="1"/>
            <a:r>
              <a:rPr lang="zh-CN" altLang="en-US" sz="1800" dirty="0"/>
              <a:t> 空中接口，</a:t>
            </a:r>
            <a:r>
              <a:rPr lang="en-US" altLang="zh-CN" sz="1800" dirty="0"/>
              <a:t>OTA</a:t>
            </a:r>
            <a:r>
              <a:rPr lang="zh-CN" altLang="en-US" sz="1800" dirty="0"/>
              <a:t>软件升级</a:t>
            </a:r>
            <a:endParaRPr lang="en-US" altLang="zh-CN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744" y="2564904"/>
            <a:ext cx="4104456" cy="331086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xmlns="" id="{7477F47D-2E57-B014-5DB9-74FFBE528347}"/>
              </a:ext>
            </a:extLst>
          </p:cNvPr>
          <p:cNvSpPr txBox="1">
            <a:spLocks/>
          </p:cNvSpPr>
          <p:nvPr/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公司产品 </a:t>
            </a:r>
            <a:r>
              <a:rPr lang="en-US" altLang="zh-CN" dirty="0"/>
              <a:t>– 5G</a:t>
            </a:r>
            <a:r>
              <a:rPr lang="zh-CN" altLang="en-US" dirty="0"/>
              <a:t> </a:t>
            </a:r>
            <a:r>
              <a:rPr lang="en-US" altLang="zh-CN" dirty="0"/>
              <a:t>IOT</a:t>
            </a:r>
            <a:r>
              <a:rPr lang="zh-CN" altLang="en-US" dirty="0"/>
              <a:t>智能模块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结束</a:t>
            </a:r>
            <a:r>
              <a:rPr lang="en-US" altLang="zh-CN" dirty="0"/>
              <a:t>+</a:t>
            </a:r>
            <a:r>
              <a:rPr lang="zh-CN" altLang="en-US" dirty="0"/>
              <a:t>感谢！</a:t>
            </a:r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150168" y="2666331"/>
            <a:ext cx="9726928" cy="2088232"/>
          </a:xfrm>
        </p:spPr>
        <p:txBody>
          <a:bodyPr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altLang="en-US" dirty="0">
                <a:solidFill>
                  <a:schemeClr val="tx1"/>
                </a:solidFill>
              </a:rPr>
              <a:t>朝着世界一流智能移动电子医疗专家</a:t>
            </a:r>
            <a:r>
              <a:rPr lang="zh-CN" altLang="en-US" dirty="0"/>
              <a:t>之路迈进</a:t>
            </a:r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dirty="0"/>
              <a:t>感谢莅临指导！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71627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1_2"/>
  <p:tag name="KSO_WM_UNIT_ID" val="diagram20165062_1*p_h_h_i*1_1_1_2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1_1"/>
  <p:tag name="KSO_WM_UNIT_ID" val="diagram20165062_1*p_h_h_i*1_1_1_1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SHADOW_SCHEMECOLOR_INDEX" val="15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2_2"/>
  <p:tag name="KSO_WM_UNIT_ID" val="diagram20165062_1*p_h_h_i*1_1_2_2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2_1"/>
  <p:tag name="KSO_WM_UNIT_ID" val="diagram20165062_1*p_h_h_i*1_1_2_1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SHADOW_SCHEMECOLOR_INDEX" val="15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3_2"/>
  <p:tag name="KSO_WM_UNIT_ID" val="diagram20165062_1*p_h_h_i*1_1_3_2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65062"/>
  <p:tag name="KSO_WM_TAG_VERSION" val="1.0"/>
  <p:tag name="KSO_WM_BEAUTIFY_FLAG" val="#wm#"/>
  <p:tag name="KSO_WM_UNIT_TYPE" val="p_h_h_i"/>
  <p:tag name="KSO_WM_UNIT_INDEX" val="1_1_3_1"/>
  <p:tag name="KSO_WM_UNIT_ID" val="diagram20165062_1*p_h_h_i*1_1_3_1"/>
  <p:tag name="KSO_WM_UNIT_LAYERLEVEL" val="1_1_1_1"/>
  <p:tag name="KSO_WM_DIAGRAM_GROUP_CODE" val="p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SHADOW_SCHEMECOLOR_INDEX" val="1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医疗设计 16 x 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办公室主题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calHealth">
    <a:dk1>
      <a:sysClr val="windowText" lastClr="000000"/>
    </a:dk1>
    <a:lt1>
      <a:sysClr val="window" lastClr="FFFFFF"/>
    </a:lt1>
    <a:dk2>
      <a:srgbClr val="656367"/>
    </a:dk2>
    <a:lt2>
      <a:srgbClr val="F2F2F2"/>
    </a:lt2>
    <a:accent1>
      <a:srgbClr val="B82D2F"/>
    </a:accent1>
    <a:accent2>
      <a:srgbClr val="333333"/>
    </a:accent2>
    <a:accent3>
      <a:srgbClr val="2B4A63"/>
    </a:accent3>
    <a:accent4>
      <a:srgbClr val="445E45"/>
    </a:accent4>
    <a:accent5>
      <a:srgbClr val="5A3A64"/>
    </a:accent5>
    <a:accent6>
      <a:srgbClr val="DB8526"/>
    </a:accent6>
    <a:hlink>
      <a:srgbClr val="164E6E"/>
    </a:hlink>
    <a:folHlink>
      <a:srgbClr val="667F6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1291</Words>
  <Application>Microsoft Office PowerPoint</Application>
  <PresentationFormat>宽屏</PresentationFormat>
  <Paragraphs>173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Microsoft YaHei UI</vt:lpstr>
      <vt:lpstr>宋体</vt:lpstr>
      <vt:lpstr>微软雅黑</vt:lpstr>
      <vt:lpstr>幼圆</vt:lpstr>
      <vt:lpstr>Arial</vt:lpstr>
      <vt:lpstr>Franklin Gothic Medium</vt:lpstr>
      <vt:lpstr>Wingdings</vt:lpstr>
      <vt:lpstr>医疗设计 16 x 9</vt:lpstr>
      <vt:lpstr>惠州市源医科技有限公司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公司产品 – 5G企业客户智能手机</vt:lpstr>
      <vt:lpstr>公司产品 – 5G企业客户智能平板电脑</vt:lpstr>
      <vt:lpstr>公司产品 – 5G企业客户翻盖手机</vt:lpstr>
      <vt:lpstr>公司产品 - 5G 企业客户MiFi</vt:lpstr>
      <vt:lpstr>公司产品 – 儿童智能手表</vt:lpstr>
      <vt:lpstr>公司产品 – 第五代智能移动血糖仪 </vt:lpstr>
      <vt:lpstr>公司产品 – 企业客户健康检测终端 </vt:lpstr>
      <vt:lpstr>公司产品 – 智能输液控制器</vt:lpstr>
      <vt:lpstr>PowerPoint 演示文稿</vt:lpstr>
      <vt:lpstr>结束+感谢！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标题布局</dc:title>
  <dc:creator>Administrator</dc:creator>
  <cp:lastModifiedBy>Microsoft 帐户</cp:lastModifiedBy>
  <cp:revision>554</cp:revision>
  <dcterms:created xsi:type="dcterms:W3CDTF">2017-06-23T14:42:00Z</dcterms:created>
  <dcterms:modified xsi:type="dcterms:W3CDTF">2026-05-21T07:36:18Z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D83AA903277440B39A6393A474FAA670</vt:lpwstr>
  </property>
  <property fmtid="{D5CDD505-2E9C-101B-9397-08002B2CF9AE}" pid="3" name="KSOProductBuildVer">
    <vt:lpwstr>2052-12.1.0.19302</vt:lpwstr>
  </property>
</Properties>
</file>